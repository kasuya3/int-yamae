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490"/>
                </a:solidFill>
              </a:defRPr>
            </a:pPr>
            <a:r>
              <a:t>物流システムソリューション提案書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495E"/>
                </a:solidFill>
              </a:defRPr>
            </a:pPr>
            <a:r>
              <a:t>株式会社ヤマエ久野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1. エグゼクティブサマリー</a:t>
            </a:r>
          </a:p>
          <a:p>
            <a:pPr>
              <a:spcBef>
                <a:spcPts val="1200"/>
              </a:spcBef>
              <a:defRPr sz="2000"/>
            </a:pPr>
            <a:r>
              <a:t>2. 現状分析：財務指標から見た経営課題</a:t>
            </a:r>
          </a:p>
          <a:p>
            <a:pPr>
              <a:spcBef>
                <a:spcPts val="1200"/>
              </a:spcBef>
              <a:defRPr sz="2000"/>
            </a:pPr>
            <a:r>
              <a:t>3. 根本原因：物流課題の詳細分析</a:t>
            </a:r>
          </a:p>
          <a:p>
            <a:pPr>
              <a:spcBef>
                <a:spcPts val="1200"/>
              </a:spcBef>
              <a:defRPr sz="2000"/>
            </a:pPr>
            <a:r>
              <a:t>4. 提案ソリューション全体像</a:t>
            </a:r>
          </a:p>
          <a:p>
            <a:pPr>
              <a:spcBef>
                <a:spcPts val="1200"/>
              </a:spcBef>
              <a:defRPr sz="2000"/>
            </a:pPr>
            <a:r>
              <a:t>5. 各ソリューション詳細</a:t>
            </a:r>
          </a:p>
          <a:p>
            <a:pPr>
              <a:spcBef>
                <a:spcPts val="1200"/>
              </a:spcBef>
              <a:defRPr sz="2000"/>
            </a:pPr>
            <a:r>
              <a:t>6. 投資対効果・財務改善シミュレーション</a:t>
            </a:r>
          </a:p>
          <a:p>
            <a:pPr>
              <a:spcBef>
                <a:spcPts val="1200"/>
              </a:spcBef>
              <a:defRPr sz="2000"/>
            </a:pPr>
            <a:r>
              <a:t>7. 実行ロードマップ</a:t>
            </a:r>
          </a:p>
          <a:p>
            <a:pPr>
              <a:spcBef>
                <a:spcPts val="1200"/>
              </a:spcBef>
              <a:defRPr sz="2000"/>
            </a:pPr>
            <a:r>
              <a:t>8. 期待効果まとめ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エグゼクティブサマリー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C0392B"/>
                </a:solidFill>
              </a:defRPr>
            </a:pPr>
            <a:r>
              <a:t>経営課題と提案</a:t>
            </a:r>
          </a:p>
          <a:p>
            <a:pPr>
              <a:spcBef>
                <a:spcPts val="600"/>
              </a:spcBef>
              <a:defRPr sz="1600"/>
            </a:pPr>
            <a:r>
              <a:t>キャッシュフロー悪化：営業CFマージン -3.12%</a:t>
            </a:r>
          </a:p>
          <a:p>
            <a:pPr>
              <a:spcBef>
                <a:spcPts val="600"/>
              </a:spcBef>
              <a:defRPr sz="1600"/>
            </a:pPr>
            <a:r>
              <a:t>収益性の低迷：経常利益率 1.73%、総利益率 7.38%</a:t>
            </a:r>
          </a:p>
          <a:p>
            <a:pPr>
              <a:spcBef>
                <a:spcPts val="600"/>
              </a:spcBef>
              <a:defRPr sz="1600"/>
            </a:pPr>
            <a:r>
              <a:t>財務健全性の問題：流動比率 91.06%</a:t>
            </a:r>
          </a:p>
          <a:p>
            <a:pPr>
              <a:spcBef>
                <a:spcPts val="600"/>
              </a:spcBef>
              <a:defRPr sz="1600"/>
            </a:pPr>
            <a:r>
              <a:t>根本原因：在庫14,000百万円、物流コスト推定35,000百万円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提案：3つの物流システムソリューション</a:t>
            </a:r>
          </a:p>
          <a:p>
            <a:pPr>
              <a:spcBef>
                <a:spcPts val="600"/>
              </a:spcBef>
              <a:defRPr sz="1600"/>
            </a:pPr>
            <a:r>
              <a:t>投資額：970-1,260百万円</a:t>
            </a:r>
          </a:p>
          <a:p>
            <a:pPr>
              <a:spcBef>
                <a:spcPts val="600"/>
              </a:spcBef>
              <a:defRPr sz="1600"/>
            </a:pPr>
            <a:r>
              <a:t>年間効果：870-1,240百万円</a:t>
            </a:r>
          </a:p>
          <a:p>
            <a:pPr>
              <a:spcBef>
                <a:spcPts val="600"/>
              </a:spcBef>
              <a:defRPr sz="1600"/>
            </a:pPr>
            <a:r>
              <a:t>投資回収：約1.1-1.4年</a:t>
            </a:r>
          </a:p>
          <a:p>
            <a:pPr>
              <a:spcBef>
                <a:spcPts val="600"/>
              </a:spcBef>
              <a:defRPr sz="1600"/>
            </a:pPr>
            <a:r>
              <a:t>経常利益率改善：1.73% → 3.0-3.5%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現状分析1：キャッシュフロー悪化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db_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290898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64592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C0392B"/>
                </a:solidFill>
              </a:defRPr>
            </a:pPr>
            <a:r>
              <a:t>重要な示唆</a:t>
            </a:r>
          </a:p>
          <a:p>
            <a:pPr>
              <a:spcBef>
                <a:spcPts val="400"/>
              </a:spcBef>
              <a:defRPr sz="1400"/>
            </a:pPr>
            <a:r>
              <a:t>期首現金残高の減少</a:t>
            </a:r>
          </a:p>
          <a:p>
            <a:pPr>
              <a:spcBef>
                <a:spcPts val="400"/>
              </a:spcBef>
              <a:defRPr sz="1400"/>
            </a:pPr>
            <a:r>
              <a:t>5,811→2,767百万円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営業CFの激しい変動</a:t>
            </a:r>
          </a:p>
          <a:p>
            <a:pPr>
              <a:spcBef>
                <a:spcPts val="400"/>
              </a:spcBef>
              <a:defRPr sz="1400"/>
            </a:pPr>
            <a:r>
              <a:t>150億円レベルの変動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営業CFマージン</a:t>
            </a:r>
          </a:p>
          <a:p>
            <a:pPr>
              <a:spcBef>
                <a:spcPts val="400"/>
              </a:spcBef>
              <a:defRPr sz="1400"/>
            </a:pPr>
            <a:r>
              <a:t>-3.12%（マイナス）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主因：棚卸資産増減</a:t>
            </a:r>
          </a:p>
          <a:p>
            <a:pPr>
              <a:spcBef>
                <a:spcPts val="400"/>
              </a:spcBef>
              <a:defRPr sz="1400"/>
            </a:pPr>
            <a:r>
              <a:t>△1,429百万円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現状分析2：収益性指標の著しい低迷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 b="1"/>
            </a:pPr>
            <a:r>
              <a:t>業界標準との比較</a:t>
            </a:r>
          </a:p>
          <a:p>
            <a:pPr>
              <a:spcBef>
                <a:spcPts val="800"/>
              </a:spcBef>
              <a:defRPr b="1" sz="1600"/>
            </a:pPr>
            <a:r>
              <a:t>指標           現状         業界標準         評価</a:t>
            </a:r>
          </a:p>
          <a:p>
            <a:pPr>
              <a:spcBef>
                <a:spcPts val="800"/>
              </a:spcBef>
              <a:defRPr sz="1500"/>
            </a:pPr>
            <a:r>
              <a:t>売上高総利益率      7.38%      10-15%       ❌ 著しく低い</a:t>
            </a:r>
          </a:p>
          <a:p>
            <a:pPr>
              <a:spcBef>
                <a:spcPts val="800"/>
              </a:spcBef>
              <a:defRPr sz="1500"/>
            </a:pPr>
            <a:r>
              <a:t>売上高経常利益率     1.73%      3-5%         ❌ 大幅に低い</a:t>
            </a:r>
          </a:p>
          <a:p>
            <a:pPr>
              <a:spcBef>
                <a:spcPts val="800"/>
              </a:spcBef>
              <a:defRPr sz="1500"/>
            </a:pPr>
            <a:r>
              <a:t>流動比率         91.06%     150%以上       ❌ 低水準</a:t>
            </a:r>
          </a:p>
          <a:p/>
          <a:p>
            <a:pPr>
              <a:spcBef>
                <a:spcPts val="2000"/>
              </a:spcBef>
              <a:defRPr sz="1800" b="1">
                <a:solidFill>
                  <a:srgbClr val="C0392B"/>
                </a:solidFill>
              </a:defRPr>
            </a:pPr>
            <a:r>
              <a:t>根本原因：</a:t>
            </a:r>
          </a:p>
          <a:p>
            <a:pPr>
              <a:spcBef>
                <a:spcPts val="800"/>
              </a:spcBef>
              <a:defRPr sz="1600"/>
            </a:pPr>
            <a:r>
              <a:t>調達・物流コストの高さ → 総利益率7.38%</a:t>
            </a:r>
          </a:p>
          <a:p>
            <a:pPr>
              <a:spcBef>
                <a:spcPts val="800"/>
              </a:spcBef>
              <a:defRPr sz="1600"/>
            </a:pPr>
            <a:r>
              <a:t>物流コスト推定7-9% → 経常利益率1.73%</a:t>
            </a:r>
          </a:p>
          <a:p>
            <a:pPr>
              <a:spcBef>
                <a:spcPts val="800"/>
              </a:spcBef>
              <a:defRPr sz="1600"/>
            </a:pPr>
            <a:r>
              <a:t>在庫14,000百万円 → 流動比率91.06%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現状分析3：物流起因の財務悪化構造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500"/>
            </a:pPr>
            <a:r>
              <a:t>物流課題</a:t>
            </a:r>
          </a:p>
          <a:p>
            <a:pPr>
              <a:spcBef>
                <a:spcPts val="400"/>
              </a:spcBef>
              <a:defRPr sz="1500"/>
            </a:pPr>
            <a:r>
              <a:t>  ↓</a:t>
            </a:r>
          </a:p>
          <a:p>
            <a:pPr>
              <a:spcBef>
                <a:spcPts val="400"/>
              </a:spcBef>
              <a:defRPr sz="1800" b="1">
                <a:solidFill>
                  <a:srgbClr val="C0392B"/>
                </a:solidFill>
              </a:defRPr>
            </a:pPr>
            <a:r>
              <a:t>① 在庫管理の非効率</a:t>
            </a:r>
          </a:p>
          <a:p>
            <a:pPr>
              <a:spcBef>
                <a:spcPts val="400"/>
              </a:spcBef>
              <a:defRPr sz="1500"/>
            </a:pPr>
            <a:r>
              <a:t>  → 在庫14,000百万円（過剰・長期滞留）</a:t>
            </a:r>
          </a:p>
          <a:p>
            <a:pPr>
              <a:spcBef>
                <a:spcPts val="400"/>
              </a:spcBef>
              <a:defRPr sz="1500"/>
            </a:pPr>
            <a:r>
              <a:t>  → 棚卸資産増減 △1,429百万円</a:t>
            </a:r>
          </a:p>
          <a:p>
            <a:pPr>
              <a:spcBef>
                <a:spcPts val="400"/>
              </a:spcBef>
              <a:defRPr sz="1500"/>
            </a:pPr>
            <a:r>
              <a:t>  → 営業CFマージン -3.12%</a:t>
            </a:r>
          </a:p>
          <a:p>
            <a:pPr>
              <a:spcBef>
                <a:spcPts val="400"/>
              </a:spcBef>
              <a:defRPr sz="1500"/>
            </a:pPr>
            <a:r>
              <a:t>  → 流動比率 91.06%</a:t>
            </a:r>
          </a:p>
          <a:p>
            <a:pPr>
              <a:spcBef>
                <a:spcPts val="400"/>
              </a:spcBef>
              <a:defRPr sz="1500"/>
            </a:pPr>
          </a:p>
          <a:p>
            <a:pPr>
              <a:spcBef>
                <a:spcPts val="400"/>
              </a:spcBef>
              <a:defRPr sz="1800" b="1">
                <a:solidFill>
                  <a:srgbClr val="C0392B"/>
                </a:solidFill>
              </a:defRPr>
            </a:pPr>
            <a:r>
              <a:t>② 物流コストの増大</a:t>
            </a:r>
          </a:p>
          <a:p>
            <a:pPr>
              <a:spcBef>
                <a:spcPts val="400"/>
              </a:spcBef>
              <a:defRPr sz="1500"/>
            </a:pPr>
            <a:r>
              <a:t>  → 推定35,000百万円（売上比7-9%）</a:t>
            </a:r>
          </a:p>
          <a:p>
            <a:pPr>
              <a:spcBef>
                <a:spcPts val="400"/>
              </a:spcBef>
              <a:defRPr sz="1500"/>
            </a:pPr>
            <a:r>
              <a:t>  → 経常利益率 1.73%</a:t>
            </a:r>
          </a:p>
          <a:p>
            <a:pPr>
              <a:spcBef>
                <a:spcPts val="400"/>
              </a:spcBef>
              <a:defRPr sz="1500"/>
            </a:pPr>
          </a:p>
          <a:p>
            <a:pPr>
              <a:spcBef>
                <a:spcPts val="400"/>
              </a:spcBef>
              <a:defRPr sz="1800" b="1">
                <a:solidFill>
                  <a:srgbClr val="C0392B"/>
                </a:solidFill>
              </a:defRPr>
            </a:pPr>
            <a:r>
              <a:t>③ 調達・在庫ロスの発生</a:t>
            </a:r>
          </a:p>
          <a:p>
            <a:pPr>
              <a:spcBef>
                <a:spcPts val="400"/>
              </a:spcBef>
              <a:defRPr sz="1500"/>
            </a:pPr>
            <a:r>
              <a:t>  → FIFO管理不徹底、品質劣化</a:t>
            </a:r>
          </a:p>
          <a:p>
            <a:pPr>
              <a:spcBef>
                <a:spcPts val="400"/>
              </a:spcBef>
              <a:defRPr sz="1500"/>
            </a:pPr>
            <a:r>
              <a:t>  → 総利益率 7.38%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課題1：在庫管理の非効率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C0392B"/>
                </a:solidFill>
              </a:defRPr>
            </a:pPr>
            <a:r>
              <a:t>現状の問題点</a:t>
            </a:r>
          </a:p>
          <a:p>
            <a:pPr>
              <a:spcBef>
                <a:spcPts val="600"/>
              </a:spcBef>
              <a:defRPr sz="1500"/>
            </a:pPr>
            <a:r>
              <a:t>在庫水準：約14,000百万円（運転資金の圧迫）</a:t>
            </a:r>
          </a:p>
          <a:p>
            <a:pPr>
              <a:spcBef>
                <a:spcPts val="600"/>
              </a:spcBef>
              <a:defRPr sz="1500"/>
            </a:pPr>
            <a:r>
              <a:t>棚卸資産増減：△1,429百万円（令和7年度）</a:t>
            </a:r>
          </a:p>
          <a:p>
            <a:pPr>
              <a:spcBef>
                <a:spcPts val="600"/>
              </a:spcBef>
              <a:defRPr sz="1500"/>
            </a:pPr>
            <a:r>
              <a:t>需要予測精度：属人的な発注、予測システム未導入</a:t>
            </a:r>
          </a:p>
          <a:p>
            <a:pPr>
              <a:spcBef>
                <a:spcPts val="600"/>
              </a:spcBef>
              <a:defRPr sz="1500"/>
            </a:pPr>
            <a:r>
              <a:t>在庫回転：業界標準より7-10日長い</a:t>
            </a:r>
          </a:p>
          <a:p>
            <a:pPr>
              <a:spcBef>
                <a:spcPts val="600"/>
              </a:spcBef>
              <a:defRPr sz="1500"/>
            </a:pPr>
            <a:r>
              <a:t>適正在庫不明：SKU別の需要変動分析なし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600"/>
              </a:spcBef>
              <a:defRPr sz="2000" b="1"/>
            </a:pPr>
            <a:r>
              <a:t>財務インパクト</a:t>
            </a:r>
          </a:p>
          <a:p>
            <a:pPr>
              <a:spcBef>
                <a:spcPts val="600"/>
              </a:spcBef>
              <a:defRPr sz="1500"/>
            </a:pPr>
            <a:r>
              <a:t>• 営業CFマージン -3.12%の主因</a:t>
            </a:r>
          </a:p>
          <a:p>
            <a:pPr>
              <a:spcBef>
                <a:spcPts val="600"/>
              </a:spcBef>
              <a:defRPr sz="1500"/>
            </a:pPr>
            <a:r>
              <a:t>• 運転資金14,000百万円の固定化</a:t>
            </a:r>
          </a:p>
          <a:p>
            <a:pPr>
              <a:spcBef>
                <a:spcPts val="600"/>
              </a:spcBef>
              <a:defRPr sz="1500"/>
            </a:pPr>
            <a:r>
              <a:t>• 在庫ロス・陳腐化による損失発生</a:t>
            </a:r>
          </a:p>
          <a:p>
            <a:pPr>
              <a:spcBef>
                <a:spcPts val="600"/>
              </a:spcBef>
              <a:defRPr sz="1500"/>
            </a:pPr>
            <a:r>
              <a:t>• 保管コスト・管理コストの増大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課題2：物流コストの増大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C0392B"/>
                </a:solidFill>
              </a:defRPr>
            </a:pPr>
            <a:r>
              <a:t>現状の問題点</a:t>
            </a:r>
          </a:p>
          <a:p>
            <a:pPr>
              <a:spcBef>
                <a:spcPts val="600"/>
              </a:spcBef>
              <a:defRPr sz="1500"/>
            </a:pPr>
            <a:r>
              <a:t>推定物流コスト：35,000百万円（売上比7-9%）</a:t>
            </a:r>
          </a:p>
          <a:p>
            <a:pPr>
              <a:spcBef>
                <a:spcPts val="600"/>
              </a:spcBef>
              <a:defRPr sz="1500"/>
            </a:pPr>
            <a:r>
              <a:t>※効率的企業は売上比5-6%程度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非効率の要因</a:t>
            </a:r>
          </a:p>
          <a:p>
            <a:pPr>
              <a:spcBef>
                <a:spcPts val="600"/>
              </a:spcBef>
              <a:defRPr sz="1500"/>
            </a:pPr>
            <a:r>
              <a:t>• 配送ルート最適化なし（手作業配車）</a:t>
            </a:r>
          </a:p>
          <a:p>
            <a:pPr>
              <a:spcBef>
                <a:spcPts val="600"/>
              </a:spcBef>
              <a:defRPr sz="1500"/>
            </a:pPr>
            <a:r>
              <a:t>• 積載効率：推定65-70%（最適80-85%）</a:t>
            </a:r>
          </a:p>
          <a:p>
            <a:pPr>
              <a:spcBef>
                <a:spcPts val="600"/>
              </a:spcBef>
              <a:defRPr sz="1500"/>
            </a:pPr>
            <a:r>
              <a:t>• 配送頻度・リードタイム最適化なし</a:t>
            </a:r>
          </a:p>
          <a:p>
            <a:pPr>
              <a:spcBef>
                <a:spcPts val="600"/>
              </a:spcBef>
              <a:defRPr sz="1500"/>
            </a:pPr>
            <a:r>
              <a:t>• 共同配送・モーダルシフト未実施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財務インパクト</a:t>
            </a:r>
          </a:p>
          <a:p>
            <a:pPr>
              <a:spcBef>
                <a:spcPts val="600"/>
              </a:spcBef>
              <a:defRPr sz="1500"/>
            </a:pPr>
            <a:r>
              <a:t>• 経常利益率1.73%を圧迫</a:t>
            </a:r>
          </a:p>
          <a:p>
            <a:pPr>
              <a:spcBef>
                <a:spcPts val="600"/>
              </a:spcBef>
              <a:defRPr sz="1500"/>
            </a:pPr>
            <a:r>
              <a:t>• 年間3,000-4,000百万円の削減余地</a:t>
            </a:r>
          </a:p>
          <a:p>
            <a:pPr>
              <a:spcBef>
                <a:spcPts val="600"/>
              </a:spcBef>
              <a:defRPr sz="1500"/>
            </a:pPr>
            <a:r>
              <a:t>• 固定費（倉庫・人件費）の高止まり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課題3：倉庫・配送オペレーション非効率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C0392B"/>
                </a:solidFill>
              </a:defRPr>
            </a:pPr>
            <a:r>
              <a:t>現状の問題点</a:t>
            </a:r>
          </a:p>
          <a:p>
            <a:pPr>
              <a:spcBef>
                <a:spcPts val="1400"/>
              </a:spcBef>
              <a:defRPr sz="1900" b="1"/>
            </a:pPr>
            <a:r>
              <a:t>倉庫作業</a:t>
            </a:r>
          </a:p>
          <a:p>
            <a:pPr>
              <a:spcBef>
                <a:spcPts val="600"/>
              </a:spcBef>
              <a:defRPr sz="1500"/>
            </a:pPr>
            <a:r>
              <a:t>• 紙伝票による入出荷管理</a:t>
            </a:r>
          </a:p>
          <a:p>
            <a:pPr>
              <a:spcBef>
                <a:spcPts val="600"/>
              </a:spcBef>
              <a:defRPr sz="1500"/>
            </a:pPr>
            <a:r>
              <a:t>• ピッキングミス率：1-2%</a:t>
            </a:r>
          </a:p>
          <a:p>
            <a:pPr>
              <a:spcBef>
                <a:spcPts val="600"/>
              </a:spcBef>
              <a:defRPr sz="1500"/>
            </a:pPr>
            <a:r>
              <a:t>• 作業生産性：業界標準の70-80%</a:t>
            </a:r>
          </a:p>
          <a:p>
            <a:pPr>
              <a:spcBef>
                <a:spcPts val="600"/>
              </a:spcBef>
              <a:defRPr sz="1500"/>
            </a:pPr>
            <a:r>
              <a:t>• ロケーション管理の不徹底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配送業務</a:t>
            </a:r>
          </a:p>
          <a:p>
            <a:pPr>
              <a:spcBef>
                <a:spcPts val="600"/>
              </a:spcBef>
              <a:defRPr sz="1500"/>
            </a:pPr>
            <a:r>
              <a:t>• ドライバー不足・残業時間の増加</a:t>
            </a:r>
          </a:p>
          <a:p>
            <a:pPr>
              <a:spcBef>
                <a:spcPts val="600"/>
              </a:spcBef>
              <a:defRPr sz="1500"/>
            </a:pPr>
            <a:r>
              <a:t>• 配送計画の属人化</a:t>
            </a:r>
          </a:p>
          <a:p>
            <a:pPr>
              <a:spcBef>
                <a:spcPts val="600"/>
              </a:spcBef>
              <a:defRPr sz="1500"/>
            </a:pPr>
            <a:r>
              <a:t>• リアルタイム進捗管理なし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財務インパクト</a:t>
            </a:r>
          </a:p>
          <a:p>
            <a:pPr>
              <a:spcBef>
                <a:spcPts val="600"/>
              </a:spcBef>
              <a:defRPr sz="1500"/>
            </a:pPr>
            <a:r>
              <a:t>• 人件費・固定費の高止まり</a:t>
            </a:r>
          </a:p>
          <a:p>
            <a:pPr>
              <a:spcBef>
                <a:spcPts val="600"/>
              </a:spcBef>
              <a:defRPr sz="1500"/>
            </a:pPr>
            <a:r>
              <a:t>• 作業ミスによる追加コスト</a:t>
            </a:r>
          </a:p>
          <a:p>
            <a:pPr>
              <a:spcBef>
                <a:spcPts val="600"/>
              </a:spcBef>
              <a:defRPr sz="1500"/>
            </a:pPr>
            <a:r>
              <a:t>• 生産性低下による機会損失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課題4：収益性・財務健全性の低迷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C0392B"/>
                </a:solidFill>
              </a:defRPr>
            </a:pPr>
            <a:r>
              <a:t>物流起因の収益性問題</a:t>
            </a: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総利益率 7.38%（業界10-15%）</a:t>
            </a:r>
          </a:p>
          <a:p>
            <a:pPr>
              <a:spcBef>
                <a:spcPts val="400"/>
              </a:spcBef>
              <a:defRPr sz="1400"/>
            </a:pPr>
            <a:r>
              <a:t>  原因1：調達物流コスト高（VMI未導入）</a:t>
            </a:r>
          </a:p>
          <a:p>
            <a:pPr>
              <a:spcBef>
                <a:spcPts val="400"/>
              </a:spcBef>
              <a:defRPr sz="1400"/>
            </a:pPr>
            <a:r>
              <a:t>  原因2：在庫ロス・品質劣化による値引き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経常利益率 1.73%（業界3-5%）</a:t>
            </a:r>
          </a:p>
          <a:p>
            <a:pPr>
              <a:spcBef>
                <a:spcPts val="400"/>
              </a:spcBef>
              <a:defRPr sz="1400"/>
            </a:pPr>
            <a:r>
              <a:t>  原因：物流コスト推定35,000百万円</a:t>
            </a:r>
          </a:p>
          <a:p>
            <a:pPr>
              <a:spcBef>
                <a:spcPts val="400"/>
              </a:spcBef>
              <a:defRPr sz="1400"/>
            </a:pPr>
            <a:r>
              <a:t>  売上比7-9%（効率的企業は5-6%）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流動比率 91.06%（健全水準150%以上）</a:t>
            </a:r>
          </a:p>
          <a:p>
            <a:pPr>
              <a:spcBef>
                <a:spcPts val="400"/>
              </a:spcBef>
              <a:defRPr sz="1400"/>
            </a:pPr>
            <a:r>
              <a:t>  原因：在庫14,000百万円の固定化</a:t>
            </a:r>
          </a:p>
          <a:p>
            <a:pPr>
              <a:spcBef>
                <a:spcPts val="400"/>
              </a:spcBef>
              <a:defRPr sz="1400"/>
            </a:pPr>
            <a:r>
              <a:t>  運転資金の圧迫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改善ポテンシャル</a:t>
            </a:r>
          </a:p>
          <a:p>
            <a:pPr>
              <a:spcBef>
                <a:spcPts val="400"/>
              </a:spcBef>
              <a:defRPr sz="1400"/>
            </a:pPr>
            <a:r>
              <a:t>• 総利益率：7.38% → 9.0-10.0%（+1.6-2.6pt）</a:t>
            </a:r>
          </a:p>
          <a:p>
            <a:pPr>
              <a:spcBef>
                <a:spcPts val="400"/>
              </a:spcBef>
              <a:defRPr sz="1400"/>
            </a:pPr>
            <a:r>
              <a:t>• 経常利益率：1.73% → 3.0-3.5%（+1.3-1.8pt）</a:t>
            </a:r>
          </a:p>
          <a:p>
            <a:pPr>
              <a:spcBef>
                <a:spcPts val="400"/>
              </a:spcBef>
              <a:defRPr sz="1400"/>
            </a:pPr>
            <a:r>
              <a:t>• 流動比率：91.06% → 120-130%（+29-39pt）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提案ソリューション全体像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600"/>
              </a:spcAft>
              <a:defRPr sz="2400" b="1">
                <a:solidFill>
                  <a:srgbClr val="1A5490"/>
                </a:solidFill>
              </a:defRPr>
            </a:pPr>
            <a:r>
              <a:t>3つの統合ソリューション</a:t>
            </a:r>
          </a:p>
          <a:p>
            <a:pPr>
              <a:spcBef>
                <a:spcPts val="600"/>
              </a:spcBef>
              <a:defRPr sz="2000" b="1">
                <a:solidFill>
                  <a:srgbClr val="C0392B"/>
                </a:solidFill>
              </a:defRPr>
            </a:pPr>
            <a:r>
              <a:t>① 高度在庫管理システム</a:t>
            </a:r>
          </a:p>
          <a:p>
            <a:pPr>
              <a:spcBef>
                <a:spcPts val="600"/>
              </a:spcBef>
              <a:defRPr sz="1400"/>
            </a:pPr>
            <a:r>
              <a:t>   AI需要予測 × IMS × VMI</a:t>
            </a:r>
          </a:p>
          <a:p>
            <a:pPr>
              <a:spcBef>
                <a:spcPts val="600"/>
              </a:spcBef>
              <a:defRPr sz="1400"/>
            </a:pPr>
            <a:r>
              <a:t>   投資：220-280百万円 / 効果：330-470百万円/年</a:t>
            </a:r>
          </a:p>
          <a:p>
            <a:pPr>
              <a:spcBef>
                <a:spcPts val="600"/>
              </a:spcBef>
              <a:defRPr sz="1400"/>
            </a:pPr>
            <a:r>
              <a:t>   → CFマージン・流動比率改善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2000" b="1">
                <a:solidFill>
                  <a:srgbClr val="C0392B"/>
                </a:solidFill>
              </a:defRPr>
            </a:pPr>
            <a:r>
              <a:t>② 統合物流プラットフォーム</a:t>
            </a:r>
          </a:p>
          <a:p>
            <a:pPr>
              <a:spcBef>
                <a:spcPts val="600"/>
              </a:spcBef>
              <a:defRPr sz="1400"/>
            </a:pPr>
            <a:r>
              <a:t>   TMS × SCM × リアルタイム可視化</a:t>
            </a:r>
          </a:p>
          <a:p>
            <a:pPr>
              <a:spcBef>
                <a:spcPts val="600"/>
              </a:spcBef>
              <a:defRPr sz="1400"/>
            </a:pPr>
            <a:r>
              <a:t>   投資：350-430百万円 / 効果：330-450百万円/年</a:t>
            </a:r>
          </a:p>
          <a:p>
            <a:pPr>
              <a:spcBef>
                <a:spcPts val="600"/>
              </a:spcBef>
              <a:defRPr sz="1400"/>
            </a:pPr>
            <a:r>
              <a:t>   → 物流コスト削減・経常利益率改善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2000" b="1">
                <a:solidFill>
                  <a:srgbClr val="C0392B"/>
                </a:solidFill>
              </a:defRPr>
            </a:pPr>
            <a:r>
              <a:t>③ 物流自動化・最適化</a:t>
            </a:r>
          </a:p>
          <a:p>
            <a:pPr>
              <a:spcBef>
                <a:spcPts val="600"/>
              </a:spcBef>
              <a:defRPr sz="1400"/>
            </a:pPr>
            <a:r>
              <a:t>   次世代WMS × 倉庫自動化 × モーダルシフト</a:t>
            </a:r>
          </a:p>
          <a:p>
            <a:pPr>
              <a:spcBef>
                <a:spcPts val="600"/>
              </a:spcBef>
              <a:defRPr sz="1400"/>
            </a:pPr>
            <a:r>
              <a:t>   投資：400-550百万円 / 効果：210-320百万円/年</a:t>
            </a:r>
          </a:p>
          <a:p>
            <a:pPr>
              <a:spcBef>
                <a:spcPts val="600"/>
              </a:spcBef>
              <a:defRPr sz="1400"/>
            </a:pPr>
            <a:r>
              <a:t>   → 固定費削減・生産性向上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ソリューション① 高度在庫管理システム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主要機能</a:t>
            </a:r>
          </a:p>
          <a:p>
            <a:pPr>
              <a:spcBef>
                <a:spcPts val="600"/>
              </a:spcBef>
              <a:defRPr sz="1600"/>
            </a:pPr>
            <a:r>
              <a:t>• AI需要予測システム（機械学習・需要変動分析）</a:t>
            </a:r>
          </a:p>
          <a:p>
            <a:pPr>
              <a:spcBef>
                <a:spcPts val="600"/>
              </a:spcBef>
              <a:defRPr sz="1600"/>
            </a:pPr>
            <a:r>
              <a:t>• IMS統合在庫管理（リアルタイム可視化）</a:t>
            </a:r>
          </a:p>
          <a:p>
            <a:pPr>
              <a:spcBef>
                <a:spcPts val="600"/>
              </a:spcBef>
              <a:defRPr sz="1600"/>
            </a:pPr>
            <a:r>
              <a:t>• VMI（ベンダー管理在庫）導入</a:t>
            </a:r>
          </a:p>
          <a:p>
            <a:pPr>
              <a:spcBef>
                <a:spcPts val="600"/>
              </a:spcBef>
              <a:defRPr sz="1600"/>
            </a:pPr>
            <a:r>
              <a:t>• 適正在庫自動算出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導入効果</a:t>
            </a:r>
          </a:p>
          <a:p>
            <a:pPr>
              <a:spcBef>
                <a:spcPts val="600"/>
              </a:spcBef>
              <a:defRPr sz="1600"/>
            </a:pPr>
            <a:r>
              <a:t>• 在庫削減：1,000-2,000百万円</a:t>
            </a:r>
          </a:p>
          <a:p>
            <a:pPr>
              <a:spcBef>
                <a:spcPts val="600"/>
              </a:spcBef>
              <a:defRPr sz="1600"/>
            </a:pPr>
            <a:r>
              <a:t>• 在庫回転日数：7-10日短縮</a:t>
            </a:r>
          </a:p>
          <a:p>
            <a:pPr>
              <a:spcBef>
                <a:spcPts val="600"/>
              </a:spcBef>
              <a:defRPr sz="1600"/>
            </a:pPr>
            <a:r>
              <a:t>• 欠品率：50%削減</a:t>
            </a:r>
          </a:p>
          <a:p>
            <a:pPr>
              <a:spcBef>
                <a:spcPts val="600"/>
              </a:spcBef>
              <a:defRPr sz="1600"/>
            </a:pPr>
            <a:r>
              <a:t>• 予測精度：±15% → ±5%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投資対効果</a:t>
            </a:r>
          </a:p>
          <a:p>
            <a:pPr>
              <a:spcBef>
                <a:spcPts val="600"/>
              </a:spcBef>
              <a:defRPr sz="1600"/>
            </a:pPr>
            <a:r>
              <a:t>• 初期投資：220-280百万円</a:t>
            </a:r>
          </a:p>
          <a:p>
            <a:pPr>
              <a:spcBef>
                <a:spcPts val="600"/>
              </a:spcBef>
              <a:defRPr sz="1600"/>
            </a:pPr>
            <a:r>
              <a:t>• 年間効果：330-470百万円</a:t>
            </a:r>
          </a:p>
          <a:p>
            <a:pPr>
              <a:spcBef>
                <a:spcPts val="600"/>
              </a:spcBef>
              <a:defRPr sz="1600"/>
            </a:pPr>
            <a:r>
              <a:t>• ROI：0.5-0.8年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ソリューション② 統合物流プラットフォーム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主要機能</a:t>
            </a:r>
          </a:p>
          <a:p>
            <a:pPr>
              <a:spcBef>
                <a:spcPts val="600"/>
              </a:spcBef>
              <a:defRPr sz="1600"/>
            </a:pPr>
            <a:r>
              <a:t>• TMS（配送ルート最適化・動的配車）</a:t>
            </a:r>
          </a:p>
          <a:p>
            <a:pPr>
              <a:spcBef>
                <a:spcPts val="600"/>
              </a:spcBef>
              <a:defRPr sz="1600"/>
            </a:pPr>
            <a:r>
              <a:t>• SCM可視化（サプライチェーン全体）</a:t>
            </a:r>
          </a:p>
          <a:p>
            <a:pPr>
              <a:spcBef>
                <a:spcPts val="600"/>
              </a:spcBef>
              <a:defRPr sz="1600"/>
            </a:pPr>
            <a:r>
              <a:t>• IoT活用（車両・貨物追跡）</a:t>
            </a:r>
          </a:p>
          <a:p>
            <a:pPr>
              <a:spcBef>
                <a:spcPts val="600"/>
              </a:spcBef>
              <a:defRPr sz="1600"/>
            </a:pPr>
            <a:r>
              <a:t>• KPI自動集計・分析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導入効果</a:t>
            </a:r>
          </a:p>
          <a:p>
            <a:pPr>
              <a:spcBef>
                <a:spcPts val="600"/>
              </a:spcBef>
              <a:defRPr sz="1600"/>
            </a:pPr>
            <a:r>
              <a:t>• 配送コスト：15-20%削減</a:t>
            </a:r>
          </a:p>
          <a:p>
            <a:pPr>
              <a:spcBef>
                <a:spcPts val="600"/>
              </a:spcBef>
              <a:defRPr sz="1600"/>
            </a:pPr>
            <a:r>
              <a:t>• 積載効率：65-70% → 80-85%</a:t>
            </a:r>
          </a:p>
          <a:p>
            <a:pPr>
              <a:spcBef>
                <a:spcPts val="600"/>
              </a:spcBef>
              <a:defRPr sz="1600"/>
            </a:pPr>
            <a:r>
              <a:t>• リードタイム：20-30%短縮</a:t>
            </a:r>
          </a:p>
          <a:p>
            <a:pPr>
              <a:spcBef>
                <a:spcPts val="600"/>
              </a:spcBef>
              <a:defRPr sz="1600"/>
            </a:pPr>
            <a:r>
              <a:t>• 配車計画時間：80%削減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投資対効果</a:t>
            </a:r>
          </a:p>
          <a:p>
            <a:pPr>
              <a:spcBef>
                <a:spcPts val="600"/>
              </a:spcBef>
              <a:defRPr sz="1600"/>
            </a:pPr>
            <a:r>
              <a:t>• 初期投資：350-430百万円</a:t>
            </a:r>
          </a:p>
          <a:p>
            <a:pPr>
              <a:spcBef>
                <a:spcPts val="600"/>
              </a:spcBef>
              <a:defRPr sz="1600"/>
            </a:pPr>
            <a:r>
              <a:t>• 年間効果：330-450百万円</a:t>
            </a:r>
          </a:p>
          <a:p>
            <a:pPr>
              <a:spcBef>
                <a:spcPts val="600"/>
              </a:spcBef>
              <a:defRPr sz="1600"/>
            </a:pPr>
            <a:r>
              <a:t>• ROI：0.8-1.3年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ソリューション③ 物流自動化・最適化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主要機能・設備</a:t>
            </a:r>
          </a:p>
          <a:p>
            <a:pPr>
              <a:spcBef>
                <a:spcPts val="600"/>
              </a:spcBef>
              <a:defRPr sz="1600"/>
            </a:pPr>
            <a:r>
              <a:t>• 次世代WMS（ピッキング最適化）</a:t>
            </a:r>
          </a:p>
          <a:p>
            <a:pPr>
              <a:spcBef>
                <a:spcPts val="600"/>
              </a:spcBef>
              <a:defRPr sz="1600"/>
            </a:pPr>
            <a:r>
              <a:t>• AGV（無人搬送車）・自動仕分け機</a:t>
            </a:r>
          </a:p>
          <a:p>
            <a:pPr>
              <a:spcBef>
                <a:spcPts val="600"/>
              </a:spcBef>
              <a:defRPr sz="1600"/>
            </a:pPr>
            <a:r>
              <a:t>• デジタルピッキングシステム</a:t>
            </a:r>
          </a:p>
          <a:p>
            <a:pPr>
              <a:spcBef>
                <a:spcPts val="600"/>
              </a:spcBef>
              <a:defRPr sz="1600"/>
            </a:pPr>
            <a:r>
              <a:t>• 共同物流・モーダルシフト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導入効果</a:t>
            </a:r>
          </a:p>
          <a:p>
            <a:pPr>
              <a:spcBef>
                <a:spcPts val="600"/>
              </a:spcBef>
              <a:defRPr sz="1600"/>
            </a:pPr>
            <a:r>
              <a:t>• ピッキング生産性：30-40%向上</a:t>
            </a:r>
          </a:p>
          <a:p>
            <a:pPr>
              <a:spcBef>
                <a:spcPts val="600"/>
              </a:spcBef>
              <a:defRPr sz="1600"/>
            </a:pPr>
            <a:r>
              <a:t>• 倉庫人件費：20-30%削減（80-120百万円）</a:t>
            </a:r>
          </a:p>
          <a:p>
            <a:pPr>
              <a:spcBef>
                <a:spcPts val="600"/>
              </a:spcBef>
              <a:defRPr sz="1600"/>
            </a:pPr>
            <a:r>
              <a:t>• 作業ミス率：1-2% → 0.2%以下</a:t>
            </a:r>
          </a:p>
          <a:p>
            <a:pPr>
              <a:spcBef>
                <a:spcPts val="600"/>
              </a:spcBef>
              <a:defRPr sz="1600"/>
            </a:pPr>
            <a:r>
              <a:t>• 長距離輸送コスト：10-15%削減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投資対効果</a:t>
            </a:r>
          </a:p>
          <a:p>
            <a:pPr>
              <a:spcBef>
                <a:spcPts val="600"/>
              </a:spcBef>
              <a:defRPr sz="1600"/>
            </a:pPr>
            <a:r>
              <a:t>• 初期投資：400-550百万円</a:t>
            </a:r>
          </a:p>
          <a:p>
            <a:pPr>
              <a:spcBef>
                <a:spcPts val="600"/>
              </a:spcBef>
              <a:defRPr sz="1600"/>
            </a:pPr>
            <a:r>
              <a:t>• 年間効果：210-320百万円</a:t>
            </a:r>
          </a:p>
          <a:p>
            <a:pPr>
              <a:spcBef>
                <a:spcPts val="600"/>
              </a:spcBef>
              <a:defRPr sz="1600"/>
            </a:pPr>
            <a:r>
              <a:t>• ROI：1.3-2.6年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全体投資対効果サマリー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/>
            </a:pPr>
            <a:r>
              <a:t>ソリューション別投資計画</a:t>
            </a:r>
          </a:p>
          <a:p>
            <a:pPr>
              <a:spcBef>
                <a:spcPts val="600"/>
              </a:spcBef>
              <a:defRPr b="1" sz="1600"/>
            </a:pPr>
            <a:r>
              <a:t>ソリューション        初期投資             年間効果             ROI</a:t>
            </a:r>
          </a:p>
          <a:p>
            <a:pPr>
              <a:spcBef>
                <a:spcPts val="600"/>
              </a:spcBef>
              <a:defRPr sz="1500"/>
            </a:pPr>
            <a:r>
              <a:t>① 高度在庫管理       220-280百万円       330-470百万円       0.5-0.8年</a:t>
            </a:r>
          </a:p>
          <a:p>
            <a:pPr>
              <a:spcBef>
                <a:spcPts val="600"/>
              </a:spcBef>
              <a:defRPr sz="1500"/>
            </a:pPr>
            <a:r>
              <a:t>② 統合物流PF       350-430百万円       330-450百万円       0.8-1.3年</a:t>
            </a:r>
          </a:p>
          <a:p>
            <a:pPr>
              <a:spcBef>
                <a:spcPts val="600"/>
              </a:spcBef>
              <a:defRPr sz="1500"/>
            </a:pPr>
            <a:r>
              <a:t>③ 物流自動化        400-550百万円       210-320百万円       1.3-2.6年</a:t>
            </a:r>
          </a:p>
          <a:p/>
          <a:p>
            <a:pPr>
              <a:spcBef>
                <a:spcPts val="600"/>
              </a:spcBef>
              <a:defRPr b="1" sz="1600"/>
            </a:pPr>
            <a:r>
              <a:t>合計             970-1,260百万円     870-1,240百万円     1.1-1.4年</a:t>
            </a:r>
          </a:p>
          <a:p/>
          <a:p>
            <a:pPr>
              <a:spcBef>
                <a:spcPts val="2000"/>
              </a:spcBef>
              <a:defRPr sz="1800" b="1">
                <a:solidFill>
                  <a:srgbClr val="C0392B"/>
                </a:solidFill>
              </a:defRPr>
            </a:pPr>
            <a:r>
              <a:t>投資回収：2年目後半には完全回収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財務指標改善シミュレーション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 b="1"/>
            </a:pPr>
            <a:r>
              <a:t>システム導入後3年目（フル効果）</a:t>
            </a:r>
          </a:p>
          <a:p>
            <a:pPr>
              <a:spcBef>
                <a:spcPts val="500"/>
              </a:spcBef>
              <a:defRPr b="1" sz="1500"/>
            </a:pPr>
            <a:r>
              <a:t>財務指標         現状             改善後              改善幅</a:t>
            </a:r>
          </a:p>
          <a:p>
            <a:pPr>
              <a:spcBef>
                <a:spcPts val="500"/>
              </a:spcBef>
              <a:defRPr sz="1400"/>
            </a:pPr>
            <a:r>
              <a:t>営業CF         4,653百万円       18,000-20,000    +13,000-15,000</a:t>
            </a:r>
          </a:p>
          <a:p>
            <a:pPr>
              <a:spcBef>
                <a:spcPts val="500"/>
              </a:spcBef>
              <a:defRPr sz="1400"/>
            </a:pPr>
            <a:r>
              <a:t>CFマージン       -3.12%         3.5-4.0%         +6.5-7.0pt</a:t>
            </a:r>
          </a:p>
          <a:p>
            <a:pPr>
              <a:spcBef>
                <a:spcPts val="500"/>
              </a:spcBef>
              <a:defRPr sz="1400"/>
            </a:pPr>
            <a:r>
              <a:t>物流コスト        35,000百万円      31,000-32,000    △3,000-4,000</a:t>
            </a:r>
          </a:p>
          <a:p/>
          <a:p>
            <a:pPr>
              <a:spcBef>
                <a:spcPts val="500"/>
              </a:spcBef>
              <a:defRPr sz="1400"/>
            </a:pPr>
            <a:r>
              <a:t>総利益率         7.38%          9.0-10.0%        +1.6-2.6pt</a:t>
            </a:r>
          </a:p>
          <a:p>
            <a:pPr>
              <a:spcBef>
                <a:spcPts val="500"/>
              </a:spcBef>
              <a:defRPr sz="1400"/>
            </a:pPr>
            <a:r>
              <a:t>経常利益率        1.73%          3.0-3.5%         +1.3-1.8pt</a:t>
            </a:r>
          </a:p>
          <a:p>
            <a:pPr>
              <a:spcBef>
                <a:spcPts val="500"/>
              </a:spcBef>
              <a:defRPr sz="1400"/>
            </a:pPr>
            <a:r>
              <a:t>流動比率         91.06%         120-130%         +29-39pt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収益性改善の内訳①：総利益率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600"/>
              </a:spcAft>
              <a:defRPr sz="2400" b="1">
                <a:solidFill>
                  <a:srgbClr val="C0392B"/>
                </a:solidFill>
              </a:defRPr>
            </a:pPr>
            <a:r>
              <a:t>総利益率：7.38% → 9.0-10.0%</a:t>
            </a:r>
          </a:p>
          <a:p>
            <a:pPr>
              <a:spcBef>
                <a:spcPts val="600"/>
              </a:spcBef>
              <a:defRPr sz="1800" b="1"/>
            </a:pPr>
            <a:r>
              <a:t>改善要因1：調達物流最適化</a:t>
            </a:r>
          </a:p>
          <a:p>
            <a:pPr>
              <a:spcBef>
                <a:spcPts val="600"/>
              </a:spcBef>
              <a:defRPr sz="1500"/>
            </a:pPr>
            <a:r>
              <a:t>  VMI・共同調達によるコスト削減</a:t>
            </a:r>
          </a:p>
          <a:p>
            <a:pPr>
              <a:spcBef>
                <a:spcPts val="600"/>
              </a:spcBef>
              <a:defRPr sz="1500"/>
            </a:pPr>
            <a:r>
              <a:t>  効果：+0.8-1.2ポイント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600"/>
              </a:spcBef>
              <a:defRPr sz="1800" b="1"/>
            </a:pPr>
            <a:r>
              <a:t>改善要因2：在庫ロス削減</a:t>
            </a:r>
          </a:p>
          <a:p>
            <a:pPr>
              <a:spcBef>
                <a:spcPts val="600"/>
              </a:spcBef>
              <a:defRPr sz="1500"/>
            </a:pPr>
            <a:r>
              <a:t>  FIFO徹底・品質管理による値引き・廃棄削減</a:t>
            </a:r>
          </a:p>
          <a:p>
            <a:pPr>
              <a:spcBef>
                <a:spcPts val="600"/>
              </a:spcBef>
              <a:defRPr sz="1500"/>
            </a:pPr>
            <a:r>
              <a:t>  効果：+0.5-0.8ポイント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600"/>
              </a:spcBef>
              <a:defRPr sz="1800" b="1"/>
            </a:pPr>
            <a:r>
              <a:t>改善要因3：物流効率化</a:t>
            </a:r>
          </a:p>
          <a:p>
            <a:pPr>
              <a:spcBef>
                <a:spcPts val="600"/>
              </a:spcBef>
              <a:defRPr sz="1500"/>
            </a:pPr>
            <a:r>
              <a:t>  欠品削減、配送品質向上による付加価値向上</a:t>
            </a:r>
          </a:p>
          <a:p>
            <a:pPr>
              <a:spcBef>
                <a:spcPts val="600"/>
              </a:spcBef>
              <a:defRPr sz="1500"/>
            </a:pPr>
            <a:r>
              <a:t>  効果：+0.3-0.6ポイント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600"/>
              </a:spcBef>
              <a:defRPr sz="1800" b="1"/>
            </a:pPr>
            <a:r>
              <a:t>合計改善幅：+1.6-2.6ポイント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収益性改善の内訳②：経常利益率・流動比率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 b="1">
                <a:solidFill>
                  <a:srgbClr val="C0392B"/>
                </a:solidFill>
              </a:defRPr>
            </a:pPr>
            <a:r>
              <a:t>経常利益率：1.73% → 3.0-3.5%</a:t>
            </a:r>
          </a:p>
          <a:p>
            <a:pPr>
              <a:spcBef>
                <a:spcPts val="500"/>
              </a:spcBef>
              <a:defRPr sz="1500"/>
            </a:pPr>
            <a:r>
              <a:t>• 物流コスト削減：+0.6-0.8pt</a:t>
            </a:r>
          </a:p>
          <a:p>
            <a:pPr>
              <a:spcBef>
                <a:spcPts val="500"/>
              </a:spcBef>
              <a:defRPr sz="1500"/>
            </a:pPr>
            <a:r>
              <a:t>• 総利益率改善効果：+0.4-0.6pt</a:t>
            </a:r>
          </a:p>
          <a:p>
            <a:pPr>
              <a:spcBef>
                <a:spcPts val="500"/>
              </a:spcBef>
              <a:defRPr sz="1500"/>
            </a:pPr>
            <a:r>
              <a:t>• オペレーション効率化：+0.3-0.4pt</a:t>
            </a:r>
          </a:p>
          <a:p>
            <a:pPr>
              <a:spcBef>
                <a:spcPts val="500"/>
              </a:spcBef>
              <a:defRPr sz="1700" b="1"/>
            </a:pPr>
            <a:r>
              <a:t>合計：+1.3-1.8ポイント</a:t>
            </a:r>
          </a:p>
          <a:p>
            <a:pPr>
              <a:spcBef>
                <a:spcPts val="1200"/>
              </a:spcBef>
            </a:pPr>
          </a:p>
          <a:p>
            <a:pPr>
              <a:spcAft>
                <a:spcPts val="1000"/>
              </a:spcAft>
              <a:defRPr sz="2000" b="1">
                <a:solidFill>
                  <a:srgbClr val="C0392B"/>
                </a:solidFill>
              </a:defRPr>
            </a:pPr>
            <a:r>
              <a:t>流動比率：91.06% → 120-130%</a:t>
            </a:r>
          </a:p>
          <a:p>
            <a:pPr>
              <a:spcBef>
                <a:spcPts val="500"/>
              </a:spcBef>
              <a:defRPr sz="1500"/>
            </a:pPr>
            <a:r>
              <a:t>• 在庫最適化：14,000 → 12,000-13,000百万円</a:t>
            </a:r>
          </a:p>
          <a:p>
            <a:pPr>
              <a:spcBef>
                <a:spcPts val="500"/>
              </a:spcBef>
              <a:defRPr sz="1500"/>
            </a:pPr>
            <a:r>
              <a:t>• 過剰在庫削減：1,000-2,000百万円</a:t>
            </a:r>
          </a:p>
          <a:p>
            <a:pPr>
              <a:spcBef>
                <a:spcPts val="500"/>
              </a:spcBef>
              <a:defRPr sz="1500"/>
            </a:pPr>
            <a:r>
              <a:t>• 運転資金サイクル改善</a:t>
            </a:r>
          </a:p>
          <a:p>
            <a:pPr>
              <a:spcBef>
                <a:spcPts val="500"/>
              </a:spcBef>
              <a:defRPr sz="1500"/>
            </a:pPr>
            <a:r>
              <a:t>• 営業CF改善による手元流動性向上</a:t>
            </a:r>
          </a:p>
          <a:p>
            <a:pPr>
              <a:spcBef>
                <a:spcPts val="500"/>
              </a:spcBef>
              <a:defRPr sz="1700" b="1"/>
            </a:pPr>
            <a:r>
              <a:t>合計：+29-39ポイント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段階的投資計画とCF影響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/>
            </a:pPr>
            <a:r>
              <a:t>3年間の投資・効果計画</a:t>
            </a:r>
          </a:p>
          <a:p>
            <a:pPr>
              <a:spcBef>
                <a:spcPts val="600"/>
              </a:spcBef>
              <a:defRPr b="1" sz="1600"/>
            </a:pPr>
            <a:r>
              <a:t>期間       投資額                効果創出               ネットCF</a:t>
            </a:r>
          </a:p>
          <a:p>
            <a:pPr>
              <a:spcBef>
                <a:spcPts val="600"/>
              </a:spcBef>
              <a:defRPr sz="1500"/>
            </a:pPr>
            <a:r>
              <a:t>1年目      △500-600百万円        +150-250百万円        △300-400百万円</a:t>
            </a:r>
          </a:p>
          <a:p>
            <a:pPr>
              <a:spcBef>
                <a:spcPts val="600"/>
              </a:spcBef>
              <a:defRPr sz="1500"/>
            </a:pPr>
            <a:r>
              <a:t>2年目      △400-500百万円        +500-700百万円        +50-200百万円</a:t>
            </a:r>
          </a:p>
          <a:p>
            <a:pPr>
              <a:spcBef>
                <a:spcPts val="600"/>
              </a:spcBef>
              <a:defRPr sz="1500"/>
            </a:pPr>
            <a:r>
              <a:t>3年目      △100-150百万円        +870-1,240百万円      +720-1,090百万円</a:t>
            </a:r>
          </a:p>
          <a:p/>
          <a:p>
            <a:pPr>
              <a:spcBef>
                <a:spcPts val="600"/>
              </a:spcBef>
              <a:defRPr b="1" sz="1600"/>
            </a:pPr>
            <a:r>
              <a:t>累計       △1,000-1,250       +1,520-2,190       +470-940百万円</a:t>
            </a:r>
          </a:p>
          <a:p/>
          <a:p>
            <a:pPr>
              <a:spcBef>
                <a:spcPts val="2000"/>
              </a:spcBef>
              <a:defRPr sz="2000" b="1">
                <a:solidFill>
                  <a:srgbClr val="C0392B"/>
                </a:solidFill>
              </a:defRPr>
            </a:pPr>
            <a:r>
              <a:t>投資回収：2年目後半に完了</a:t>
            </a:r>
          </a:p>
          <a:p>
            <a:pPr>
              <a:spcBef>
                <a:spcPts val="1000"/>
              </a:spcBef>
              <a:defRPr sz="1800" b="1"/>
            </a:pPr>
            <a:r>
              <a:t>3年目以降：フルベネフィット創出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実行ロードマップ：フェーズ1（0-6ヶ月）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1A5490"/>
                </a:solidFill>
              </a:defRPr>
            </a:pPr>
            <a:r>
              <a:t>目標：基盤構築とクイックウィン</a:t>
            </a:r>
          </a:p>
          <a:p>
            <a:pPr>
              <a:spcBef>
                <a:spcPts val="1400"/>
              </a:spcBef>
              <a:defRPr sz="1900" b="1"/>
            </a:pPr>
            <a:r>
              <a:t>実施内容</a:t>
            </a:r>
          </a:p>
          <a:p>
            <a:pPr>
              <a:spcBef>
                <a:spcPts val="600"/>
              </a:spcBef>
              <a:defRPr sz="1500"/>
            </a:pPr>
            <a:r>
              <a:t>1. 物流実態調査（現場ヒアリング・データ分析）</a:t>
            </a:r>
          </a:p>
          <a:p>
            <a:pPr>
              <a:spcBef>
                <a:spcPts val="600"/>
              </a:spcBef>
              <a:defRPr sz="1500"/>
            </a:pPr>
            <a:r>
              <a:t>2. 在庫分析システム導入（AI需要予測準備）</a:t>
            </a:r>
          </a:p>
          <a:p>
            <a:pPr>
              <a:spcBef>
                <a:spcPts val="600"/>
              </a:spcBef>
              <a:defRPr sz="1500"/>
            </a:pPr>
            <a:r>
              <a:t>3. TMS基本機能導入開始（配送最適化）</a:t>
            </a:r>
          </a:p>
          <a:p>
            <a:pPr>
              <a:spcBef>
                <a:spcPts val="600"/>
              </a:spcBef>
              <a:defRPr sz="1500"/>
            </a:pPr>
            <a:r>
              <a:t>4. パイロット拠点選定（1-2拠点）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200"/>
              </a:spcBef>
              <a:defRPr sz="1700" b="1"/>
            </a:pPr>
            <a:r>
              <a:t>投資額：150-200百万円</a:t>
            </a:r>
          </a:p>
          <a:p>
            <a:pPr>
              <a:spcBef>
                <a:spcPts val="1200"/>
              </a:spcBef>
              <a:defRPr sz="1700" b="1"/>
            </a:pPr>
            <a:r>
              <a:t>期待効果：年間100-150百万円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主要KPI</a:t>
            </a:r>
          </a:p>
          <a:p>
            <a:pPr>
              <a:spcBef>
                <a:spcPts val="600"/>
              </a:spcBef>
              <a:defRPr sz="1500"/>
            </a:pPr>
            <a:r>
              <a:t>• 在庫精度向上：誤差率 3% → 1%以下</a:t>
            </a:r>
          </a:p>
          <a:p>
            <a:pPr>
              <a:spcBef>
                <a:spcPts val="600"/>
              </a:spcBef>
              <a:defRPr sz="1500"/>
            </a:pPr>
            <a:r>
              <a:t>• 配送コスト削減：5%削減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実行ロードマップ：フェーズ2（6-18ヶ月）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1A5490"/>
                </a:solidFill>
              </a:defRPr>
            </a:pPr>
            <a:r>
              <a:t>目標：コアシステム導入と展開</a:t>
            </a:r>
          </a:p>
          <a:p>
            <a:pPr>
              <a:spcBef>
                <a:spcPts val="1400"/>
              </a:spcBef>
              <a:defRPr sz="1900" b="1"/>
            </a:pPr>
            <a:r>
              <a:t>実施内容</a:t>
            </a:r>
          </a:p>
          <a:p>
            <a:pPr>
              <a:spcBef>
                <a:spcPts val="600"/>
              </a:spcBef>
              <a:defRPr sz="1500"/>
            </a:pPr>
            <a:r>
              <a:t>1. AI需要予測システム本格稼働</a:t>
            </a:r>
          </a:p>
          <a:p>
            <a:pPr>
              <a:spcBef>
                <a:spcPts val="600"/>
              </a:spcBef>
              <a:defRPr sz="1500"/>
            </a:pPr>
            <a:r>
              <a:t>2. 統合物流プラットフォーム導入</a:t>
            </a:r>
          </a:p>
          <a:p>
            <a:pPr>
              <a:spcBef>
                <a:spcPts val="600"/>
              </a:spcBef>
              <a:defRPr sz="1500"/>
            </a:pPr>
            <a:r>
              <a:t>3. WMS高度化と倉庫自動化設備導入</a:t>
            </a:r>
          </a:p>
          <a:p>
            <a:pPr>
              <a:spcBef>
                <a:spcPts val="600"/>
              </a:spcBef>
              <a:defRPr sz="1500"/>
            </a:pPr>
            <a:r>
              <a:t>4. サプライチェーン可視化の実現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200"/>
              </a:spcBef>
              <a:defRPr sz="1700" b="1"/>
            </a:pPr>
            <a:r>
              <a:t>投資額：600-750百万円（累計750-950百万円）</a:t>
            </a:r>
          </a:p>
          <a:p>
            <a:pPr>
              <a:spcBef>
                <a:spcPts val="1200"/>
              </a:spcBef>
              <a:defRPr sz="1700" b="1"/>
            </a:pPr>
            <a:r>
              <a:t>期待効果：年間500-700百万円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主要KPI</a:t>
            </a:r>
          </a:p>
          <a:p>
            <a:pPr>
              <a:spcBef>
                <a:spcPts val="600"/>
              </a:spcBef>
              <a:defRPr sz="1500"/>
            </a:pPr>
            <a:r>
              <a:t>• 在庫回転日数：7日短縮</a:t>
            </a:r>
          </a:p>
          <a:p>
            <a:pPr>
              <a:spcBef>
                <a:spcPts val="600"/>
              </a:spcBef>
              <a:defRPr sz="1500"/>
            </a:pPr>
            <a:r>
              <a:t>• 物流コスト率：1.5%削減</a:t>
            </a:r>
          </a:p>
          <a:p>
            <a:pPr>
              <a:spcBef>
                <a:spcPts val="600"/>
              </a:spcBef>
              <a:defRPr sz="1500"/>
            </a:pPr>
            <a:r>
              <a:t>• 倉庫生産性：20%向上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実行ロードマップ：フェーズ3（18-36ヶ月）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 b="1">
                <a:solidFill>
                  <a:srgbClr val="1A5490"/>
                </a:solidFill>
              </a:defRPr>
            </a:pPr>
            <a:r>
              <a:t>目標：全社展開と最適化</a:t>
            </a:r>
          </a:p>
          <a:p>
            <a:pPr>
              <a:spcBef>
                <a:spcPts val="1400"/>
              </a:spcBef>
              <a:defRPr sz="1900" b="1"/>
            </a:pPr>
            <a:r>
              <a:t>実施内容</a:t>
            </a:r>
          </a:p>
          <a:p>
            <a:pPr>
              <a:spcBef>
                <a:spcPts val="600"/>
              </a:spcBef>
              <a:defRPr sz="1500"/>
            </a:pPr>
            <a:r>
              <a:t>1. 全拠点へのシステム展開完了</a:t>
            </a:r>
          </a:p>
          <a:p>
            <a:pPr>
              <a:spcBef>
                <a:spcPts val="600"/>
              </a:spcBef>
              <a:defRPr sz="1500"/>
            </a:pPr>
            <a:r>
              <a:t>2. 倉庫自動化の拡大展開</a:t>
            </a:r>
          </a:p>
          <a:p>
            <a:pPr>
              <a:spcBef>
                <a:spcPts val="600"/>
              </a:spcBef>
              <a:defRPr sz="1500"/>
            </a:pPr>
            <a:r>
              <a:t>3. 継続的改善活動（PDCA）</a:t>
            </a:r>
          </a:p>
          <a:p>
            <a:pPr>
              <a:spcBef>
                <a:spcPts val="600"/>
              </a:spcBef>
              <a:defRPr sz="1500"/>
            </a:pPr>
            <a:r>
              <a:t>4. 新技術導入検討（AI高度化等）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200"/>
              </a:spcBef>
              <a:defRPr sz="1700" b="1"/>
            </a:pPr>
            <a:r>
              <a:t>投資額：200-250百万円（累計950-1,200百万円）</a:t>
            </a:r>
          </a:p>
          <a:p>
            <a:pPr>
              <a:spcBef>
                <a:spcPts val="1200"/>
              </a:spcBef>
              <a:defRPr sz="1700" b="1"/>
            </a:pPr>
            <a:r>
              <a:t>期待効果：年間870-1,240百万円（フル効果）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1900" b="1"/>
            </a:pPr>
            <a:r>
              <a:t>主要KPI</a:t>
            </a:r>
          </a:p>
          <a:p>
            <a:pPr>
              <a:spcBef>
                <a:spcPts val="600"/>
              </a:spcBef>
              <a:defRPr sz="1500"/>
            </a:pPr>
            <a:r>
              <a:t>• 在庫回転日数：さらに3-5日短縮</a:t>
            </a:r>
          </a:p>
          <a:p>
            <a:pPr>
              <a:spcBef>
                <a:spcPts val="600"/>
              </a:spcBef>
              <a:defRPr sz="1500"/>
            </a:pPr>
            <a:r>
              <a:t>• 物流コスト率：売上比6%以下</a:t>
            </a:r>
          </a:p>
          <a:p>
            <a:pPr>
              <a:spcBef>
                <a:spcPts val="600"/>
              </a:spcBef>
              <a:defRPr sz="1500"/>
            </a:pPr>
            <a:r>
              <a:t>• 倉庫生産性：業界トップ水準達成</a:t>
            </a:r>
          </a:p>
          <a:p>
            <a:pPr>
              <a:spcBef>
                <a:spcPts val="600"/>
              </a:spcBef>
              <a:defRPr sz="1500"/>
            </a:pPr>
            <a:r>
              <a:t>• 経常利益率：3.0-3.5%達成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期待効果まとめ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C0392B"/>
                </a:solidFill>
              </a:defRPr>
            </a:pPr>
            <a:r>
              <a:t>財務指標の改善</a:t>
            </a:r>
          </a:p>
          <a:p>
            <a:pPr>
              <a:spcBef>
                <a:spcPts val="600"/>
              </a:spcBef>
              <a:defRPr sz="1600"/>
            </a:pPr>
            <a:r>
              <a:t>CFマージン：-3.12% → 3.5-4.0%</a:t>
            </a:r>
          </a:p>
          <a:p>
            <a:pPr>
              <a:spcBef>
                <a:spcPts val="600"/>
              </a:spcBef>
              <a:defRPr sz="1600"/>
            </a:pPr>
            <a:r>
              <a:t>経常利益率：1.73% → 3.0-3.5%</a:t>
            </a:r>
          </a:p>
          <a:p>
            <a:pPr>
              <a:spcBef>
                <a:spcPts val="600"/>
              </a:spcBef>
              <a:defRPr sz="1600"/>
            </a:pPr>
            <a:r>
              <a:t>総利益率：7.38% → 9.0-10.0%</a:t>
            </a:r>
          </a:p>
          <a:p>
            <a:pPr>
              <a:spcBef>
                <a:spcPts val="600"/>
              </a:spcBef>
              <a:defRPr sz="1600"/>
            </a:pPr>
            <a:r>
              <a:t>流動比率：91.06% → 120-130%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業務改善効果</a:t>
            </a:r>
          </a:p>
          <a:p>
            <a:pPr>
              <a:spcBef>
                <a:spcPts val="600"/>
              </a:spcBef>
              <a:defRPr sz="1600"/>
            </a:pPr>
            <a:r>
              <a:t>• 在庫削減：1,000-2,000百万円</a:t>
            </a:r>
          </a:p>
          <a:p>
            <a:pPr>
              <a:spcBef>
                <a:spcPts val="600"/>
              </a:spcBef>
              <a:defRPr sz="1600"/>
            </a:pPr>
            <a:r>
              <a:t>• 物流コスト削減：3,000-4,000百万円/年</a:t>
            </a:r>
          </a:p>
          <a:p>
            <a:pPr>
              <a:spcBef>
                <a:spcPts val="600"/>
              </a:spcBef>
              <a:defRPr sz="1600"/>
            </a:pPr>
            <a:r>
              <a:t>• 運転資金解放：5-7億円</a:t>
            </a:r>
          </a:p>
          <a:p>
            <a:pPr>
              <a:spcBef>
                <a:spcPts val="600"/>
              </a:spcBef>
              <a:defRPr sz="1600"/>
            </a:pPr>
            <a:r>
              <a:t>• 倉庫生産性向上：30-40%</a:t>
            </a:r>
          </a:p>
          <a:p>
            <a:pPr>
              <a:spcBef>
                <a:spcPts val="600"/>
              </a:spcBef>
              <a:defRPr sz="1600"/>
            </a:pPr>
            <a:r>
              <a:t>• 配送効率向上：積載率80-85%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600"/>
              </a:spcBef>
              <a:defRPr sz="2000" b="1">
                <a:solidFill>
                  <a:srgbClr val="1A5490"/>
                </a:solidFill>
              </a:defRPr>
            </a:pPr>
            <a:r>
              <a:t>経営基盤の強化</a:t>
            </a:r>
          </a:p>
          <a:p>
            <a:pPr>
              <a:spcBef>
                <a:spcPts val="600"/>
              </a:spcBef>
              <a:defRPr sz="1600"/>
            </a:pPr>
            <a:r>
              <a:t>• データドリブン経営の実現</a:t>
            </a:r>
          </a:p>
          <a:p>
            <a:pPr>
              <a:spcBef>
                <a:spcPts val="600"/>
              </a:spcBef>
              <a:defRPr sz="1600"/>
            </a:pPr>
            <a:r>
              <a:t>• サプライチェーンの可視化・最適化</a:t>
            </a:r>
          </a:p>
          <a:p>
            <a:pPr>
              <a:spcBef>
                <a:spcPts val="600"/>
              </a:spcBef>
              <a:defRPr sz="1600"/>
            </a:pPr>
            <a:r>
              <a:t>• 競争力強化・事業成長の基盤構築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次のステップ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600"/>
              </a:spcAft>
              <a:defRPr sz="2400" b="1">
                <a:solidFill>
                  <a:srgbClr val="1A5490"/>
                </a:solidFill>
              </a:defRPr>
            </a:pPr>
            <a:r>
              <a:t>提案実現に向けて</a:t>
            </a:r>
          </a:p>
          <a:p>
            <a:pPr>
              <a:spcBef>
                <a:spcPts val="1400"/>
              </a:spcBef>
              <a:defRPr sz="2000" b="1">
                <a:solidFill>
                  <a:srgbClr val="C0392B"/>
                </a:solidFill>
              </a:defRPr>
            </a:pPr>
            <a:r>
              <a:t>ステップ1：詳細ヒアリング・現地調査</a:t>
            </a:r>
          </a:p>
          <a:p>
            <a:pPr>
              <a:spcBef>
                <a:spcPts val="600"/>
              </a:spcBef>
              <a:defRPr sz="1500"/>
            </a:pPr>
            <a:r>
              <a:t>  • 物流拠点視察</a:t>
            </a:r>
          </a:p>
          <a:p>
            <a:pPr>
              <a:spcBef>
                <a:spcPts val="600"/>
              </a:spcBef>
              <a:defRPr sz="1500"/>
            </a:pPr>
            <a:r>
              <a:t>  • 現場担当者ヒアリング</a:t>
            </a:r>
          </a:p>
          <a:p>
            <a:pPr>
              <a:spcBef>
                <a:spcPts val="600"/>
              </a:spcBef>
              <a:defRPr sz="1500"/>
            </a:pPr>
            <a:r>
              <a:t>  • データ収集・分析</a:t>
            </a:r>
          </a:p>
          <a:p>
            <a:pPr>
              <a:spcBef>
                <a:spcPts val="600"/>
              </a:spcBef>
              <a:defRPr sz="1500"/>
            </a:pPr>
            <a:r>
              <a:t>  期間：2-3週間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2000" b="1">
                <a:solidFill>
                  <a:srgbClr val="C0392B"/>
                </a:solidFill>
              </a:defRPr>
            </a:pPr>
            <a:r>
              <a:t>ステップ2：詳細提案書作成</a:t>
            </a:r>
          </a:p>
          <a:p>
            <a:pPr>
              <a:spcBef>
                <a:spcPts val="600"/>
              </a:spcBef>
              <a:defRPr sz="1500"/>
            </a:pPr>
            <a:r>
              <a:t>  • システム詳細仕様</a:t>
            </a:r>
          </a:p>
          <a:p>
            <a:pPr>
              <a:spcBef>
                <a:spcPts val="600"/>
              </a:spcBef>
              <a:defRPr sz="1500"/>
            </a:pPr>
            <a:r>
              <a:t>  • 投資計画詳細</a:t>
            </a:r>
          </a:p>
          <a:p>
            <a:pPr>
              <a:spcBef>
                <a:spcPts val="600"/>
              </a:spcBef>
              <a:defRPr sz="1500"/>
            </a:pPr>
            <a:r>
              <a:t>  • 実行計画詳細</a:t>
            </a:r>
          </a:p>
          <a:p>
            <a:pPr>
              <a:spcBef>
                <a:spcPts val="600"/>
              </a:spcBef>
              <a:defRPr sz="1500"/>
            </a:pPr>
            <a:r>
              <a:t>  期間：3-4週間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1400"/>
              </a:spcBef>
              <a:defRPr sz="2000" b="1">
                <a:solidFill>
                  <a:srgbClr val="C0392B"/>
                </a:solidFill>
              </a:defRPr>
            </a:pPr>
            <a:r>
              <a:t>ステップ3：プロジェクト開始</a:t>
            </a:r>
          </a:p>
          <a:p>
            <a:pPr>
              <a:spcBef>
                <a:spcPts val="600"/>
              </a:spcBef>
              <a:defRPr sz="1500"/>
            </a:pPr>
            <a:r>
              <a:t>  • キックオフミーティング</a:t>
            </a:r>
          </a:p>
          <a:p>
            <a:pPr>
              <a:spcBef>
                <a:spcPts val="600"/>
              </a:spcBef>
              <a:defRPr sz="1500"/>
            </a:pPr>
            <a:r>
              <a:t>  • プロジェクト体制構築</a:t>
            </a:r>
          </a:p>
          <a:p>
            <a:pPr>
              <a:spcBef>
                <a:spcPts val="600"/>
              </a:spcBef>
              <a:defRPr sz="1500"/>
            </a:pPr>
            <a:r>
              <a:t>  • フェーズ1実行開始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490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ご質問・ご相談はお気軽にお申し付けください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