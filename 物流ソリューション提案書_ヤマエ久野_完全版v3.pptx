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9144000" cy="32004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5490"/>
                </a:solidFill>
              </a:defRPr>
            </a:pPr>
            <a:r>
              <a:t>物流システムソリューション提案書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4495E"/>
                </a:solidFill>
              </a:defRPr>
            </a:pPr>
            <a:r>
              <a:t>株式会社ヤマエ久野 御中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F8C8D"/>
                </a:solidFill>
              </a:defRPr>
            </a:pPr>
            <a:r>
              <a:t>2026年2月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5490"/>
                </a:solidFill>
              </a:defRPr>
            </a:pPr>
            <a:r>
              <a:t>目次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325880"/>
            <a:ext cx="320040" cy="320040"/>
          </a:xfrm>
          <a:prstGeom prst="ellipse">
            <a:avLst/>
          </a:prstGeom>
          <a:solidFill>
            <a:srgbClr val="1A5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4495E"/>
                </a:solidFill>
              </a:defRPr>
            </a:pPr>
            <a:r>
              <a:t>1. エグゼクティブサマリー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965960"/>
            <a:ext cx="320040" cy="320040"/>
          </a:xfrm>
          <a:prstGeom prst="ellipse">
            <a:avLst/>
          </a:prstGeom>
          <a:solidFill>
            <a:srgbClr val="1A5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4495E"/>
                </a:solidFill>
              </a:defRPr>
            </a:pPr>
            <a:r>
              <a:t>2. 現状分析：財務指標から見た経営課題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606040"/>
            <a:ext cx="320040" cy="320040"/>
          </a:xfrm>
          <a:prstGeom prst="ellipse">
            <a:avLst/>
          </a:prstGeom>
          <a:solidFill>
            <a:srgbClr val="1A5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517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4495E"/>
                </a:solidFill>
              </a:defRPr>
            </a:pPr>
            <a:r>
              <a:t>3. 提案ソリューション全体像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246120"/>
            <a:ext cx="320040" cy="320040"/>
          </a:xfrm>
          <a:prstGeom prst="ellipse">
            <a:avLst/>
          </a:prstGeom>
          <a:solidFill>
            <a:srgbClr val="1A5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918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4495E"/>
                </a:solidFill>
              </a:defRPr>
            </a:pPr>
            <a:r>
              <a:t>4. 投資対効果・財務改善シミュレーション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886200"/>
            <a:ext cx="320040" cy="320040"/>
          </a:xfrm>
          <a:prstGeom prst="ellipse">
            <a:avLst/>
          </a:prstGeom>
          <a:solidFill>
            <a:srgbClr val="1A5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9319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4495E"/>
                </a:solidFill>
              </a:defRPr>
            </a:pPr>
            <a:r>
              <a:t>5. 実行ロードマップ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526280"/>
            <a:ext cx="320040" cy="320040"/>
          </a:xfrm>
          <a:prstGeom prst="ellipse">
            <a:avLst/>
          </a:prstGeom>
          <a:solidFill>
            <a:srgbClr val="1A5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5720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4495E"/>
                </a:solidFill>
              </a:defRPr>
            </a:pPr>
            <a:r>
              <a:t>6. 協業プロジェクト計画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5166360"/>
            <a:ext cx="320040" cy="320040"/>
          </a:xfrm>
          <a:prstGeom prst="ellipse">
            <a:avLst/>
          </a:prstGeom>
          <a:solidFill>
            <a:srgbClr val="1A5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2120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4495E"/>
                </a:solidFill>
              </a:defRPr>
            </a:pPr>
            <a:r>
              <a:t>7. 期待効果まとめ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868680"/>
            <a:ext cx="6766560" cy="45720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5490"/>
                </a:solidFill>
              </a:defRPr>
            </a:pPr>
            <a:r>
              <a:t>本提案書では、貴社の財務課題の根本原因を物流の観点から分析し、</a:t>
            </a:r>
            <a:br/>
            <a:r>
              <a:t>3つの統合ソリューションで抜本的改善を実現する具体的な計画をご提案します。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490"/>
                </a:solidFill>
              </a:defRPr>
            </a:pPr>
            <a:r>
              <a:t>エグゼクティブサマリー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4114800" cy="2103120"/>
          </a:xfrm>
          <a:prstGeom prst="roundRect">
            <a:avLst/>
          </a:prstGeom>
          <a:solidFill>
            <a:srgbClr val="FCF0F0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800"/>
              </a:spcAft>
              <a:defRPr sz="1800" b="1">
                <a:solidFill>
                  <a:srgbClr val="C0392B"/>
                </a:solidFill>
              </a:defRPr>
            </a:pPr>
            <a:r>
              <a:t>■ 経営課題</a:t>
            </a:r>
          </a:p>
          <a:p>
            <a:pPr>
              <a:spcBef>
                <a:spcPts val="300"/>
              </a:spcBef>
              <a:defRPr sz="1300"/>
            </a:pPr>
            <a:r>
              <a:t>• CFマージン -3.12%</a:t>
            </a:r>
          </a:p>
          <a:p>
            <a:pPr>
              <a:spcBef>
                <a:spcPts val="300"/>
              </a:spcBef>
              <a:defRPr sz="1300"/>
            </a:pPr>
            <a:r>
              <a:t>• 経常利益率 1.73%（低い）</a:t>
            </a:r>
          </a:p>
          <a:p>
            <a:pPr>
              <a:spcBef>
                <a:spcPts val="300"/>
              </a:spcBef>
              <a:defRPr sz="1300"/>
            </a:pPr>
            <a:r>
              <a:t>• 流動比率 91.06%（低い）</a:t>
            </a:r>
          </a:p>
          <a:p>
            <a:pPr>
              <a:spcBef>
                <a:spcPts val="300"/>
              </a:spcBef>
              <a:defRPr sz="1300"/>
            </a:pPr>
            <a:r>
              <a:t>• 在庫14,000百万円（過剰）</a:t>
            </a:r>
          </a:p>
          <a:p>
            <a:pPr>
              <a:spcBef>
                <a:spcPts val="300"/>
              </a:spcBef>
              <a:defRPr sz="1300"/>
            </a:pPr>
            <a:r>
              <a:t>• 物流コスト推定35,000百万円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914400"/>
            <a:ext cx="4114800" cy="210312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800"/>
              </a:spcAft>
              <a:defRPr sz="1800" b="1">
                <a:solidFill>
                  <a:srgbClr val="1A5490"/>
                </a:solidFill>
              </a:defRPr>
            </a:pPr>
            <a:r>
              <a:t>■ 提案ソリューション</a:t>
            </a:r>
          </a:p>
          <a:p>
            <a:pPr>
              <a:spcBef>
                <a:spcPts val="300"/>
              </a:spcBef>
              <a:defRPr sz="1300" b="1"/>
            </a:pPr>
            <a:r>
              <a:t>① 高度在庫管理システム</a:t>
            </a:r>
          </a:p>
          <a:p>
            <a:pPr>
              <a:spcBef>
                <a:spcPts val="300"/>
              </a:spcBef>
              <a:defRPr sz="1300" b="1"/>
            </a:pPr>
            <a:r>
              <a:t>② 統合物流プラットフォーム</a:t>
            </a:r>
          </a:p>
          <a:p>
            <a:pPr>
              <a:spcBef>
                <a:spcPts val="300"/>
              </a:spcBef>
              <a:defRPr sz="1300" b="1"/>
            </a:pPr>
            <a:r>
              <a:t>③ 物流自動化・最適化</a:t>
            </a:r>
          </a:p>
          <a:p>
            <a:pPr>
              <a:spcBef>
                <a:spcPts val="300"/>
              </a:spcBef>
              <a:defRPr sz="1300"/>
            </a:pPr>
          </a:p>
          <a:p>
            <a:pPr>
              <a:spcBef>
                <a:spcPts val="300"/>
              </a:spcBef>
              <a:defRPr sz="1300"/>
            </a:pPr>
            <a:r>
              <a:t>3つの統合ソリューション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0"/>
            <a:ext cx="8229600" cy="3200400"/>
          </a:xfrm>
          <a:prstGeom prst="roundRect">
            <a:avLst/>
          </a:prstGeom>
          <a:solidFill>
            <a:srgbClr val="F5FCF5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1200"/>
              </a:spcAft>
              <a:defRPr sz="2000" b="1">
                <a:solidFill>
                  <a:srgbClr val="27AE60"/>
                </a:solidFill>
              </a:defRPr>
            </a:pPr>
            <a:r>
              <a:t>■ 投資対効果</a:t>
            </a:r>
          </a:p>
          <a:p>
            <a:pPr>
              <a:spcBef>
                <a:spcPts val="800"/>
              </a:spcBef>
              <a:defRPr sz="1600" b="1"/>
            </a:pPr>
            <a:r>
              <a:t>【投資額】             【年間効果】           【投資回収期間】</a:t>
            </a:r>
          </a:p>
          <a:p>
            <a:pPr>
              <a:spcBef>
                <a:spcPts val="400"/>
              </a:spcBef>
              <a:defRPr sz="1400"/>
            </a:pPr>
            <a:r>
              <a:t>970-1,260百万円      870-1,240百万円       約1.1-1.4年</a:t>
            </a:r>
          </a:p>
          <a:p>
            <a:pPr>
              <a:spcBef>
                <a:spcPts val="400"/>
              </a:spcBef>
              <a:defRPr sz="1400"/>
            </a:pPr>
          </a:p>
          <a:p>
            <a:pPr>
              <a:spcBef>
                <a:spcPts val="800"/>
              </a:spcBef>
              <a:defRPr sz="1600" b="1"/>
            </a:pPr>
            <a:r>
              <a:t>【財務改善目標】</a:t>
            </a:r>
          </a:p>
          <a:p>
            <a:pPr>
              <a:spcBef>
                <a:spcPts val="400"/>
              </a:spcBef>
              <a:defRPr sz="1400"/>
            </a:pPr>
            <a:r>
              <a:t>• 営業CFマージン：-3.12% → 3.5-4.0%（+6.5-7.0pt）</a:t>
            </a:r>
          </a:p>
          <a:p>
            <a:pPr>
              <a:spcBef>
                <a:spcPts val="400"/>
              </a:spcBef>
              <a:defRPr sz="1400"/>
            </a:pPr>
            <a:r>
              <a:t>• 経常利益率：1.73% → 3.0-3.5%（+1.3-1.8pt）</a:t>
            </a:r>
          </a:p>
          <a:p>
            <a:pPr>
              <a:spcBef>
                <a:spcPts val="400"/>
              </a:spcBef>
              <a:defRPr sz="1400"/>
            </a:pPr>
            <a:r>
              <a:t>• 総利益率：7.38% → 9.0-10.0%（+1.6-2.6pt）</a:t>
            </a:r>
          </a:p>
          <a:p>
            <a:pPr>
              <a:spcBef>
                <a:spcPts val="400"/>
              </a:spcBef>
              <a:defRPr sz="1400"/>
            </a:pPr>
            <a:r>
              <a:t>• 流動比率：91.06% → 120-130%（+29-39pt）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5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現状分析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5490"/>
                </a:solidFill>
              </a:defRPr>
            </a:pPr>
            <a:r>
              <a:t>現状分析：財務指標から見た経営課題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743200" cy="5029200"/>
          </a:xfrm>
          <a:prstGeom prst="roundRect">
            <a:avLst/>
          </a:prstGeom>
          <a:solidFill>
            <a:srgbClr val="FCF0F0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1500"/>
              </a:spcAft>
              <a:defRPr sz="1600" b="1">
                <a:solidFill>
                  <a:srgbClr val="C0392B"/>
                </a:solidFill>
              </a:defRPr>
            </a:pPr>
            <a:r>
              <a:t>キャッシュフロー悪化</a:t>
            </a:r>
          </a:p>
          <a:p>
            <a:pPr algn="ctr">
              <a:spcBef>
                <a:spcPts val="400"/>
              </a:spcBef>
              <a:defRPr sz="1300" b="1"/>
            </a:pPr>
            <a:r>
              <a:t>現金残高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C0392B"/>
                </a:solidFill>
              </a:defRPr>
            </a:pPr>
            <a:r>
              <a:t>5,811→2,767百万円</a:t>
            </a:r>
          </a:p>
          <a:p>
            <a:pPr algn="ctr">
              <a:spcBef>
                <a:spcPts val="400"/>
              </a:spcBef>
              <a:defRPr sz="1300"/>
            </a:pPr>
          </a:p>
          <a:p>
            <a:pPr algn="ctr">
              <a:spcBef>
                <a:spcPts val="400"/>
              </a:spcBef>
              <a:defRPr sz="1300" b="1"/>
            </a:pPr>
            <a:r>
              <a:t>営業CFマージン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C0392B"/>
                </a:solidFill>
              </a:defRPr>
            </a:pPr>
            <a:r>
              <a:t>-3.12%</a:t>
            </a:r>
          </a:p>
          <a:p>
            <a:pPr algn="ctr">
              <a:spcBef>
                <a:spcPts val="400"/>
              </a:spcBef>
              <a:defRPr sz="1300"/>
            </a:pPr>
          </a:p>
          <a:p>
            <a:pPr algn="ctr">
              <a:spcBef>
                <a:spcPts val="400"/>
              </a:spcBef>
              <a:defRPr sz="1300" b="1"/>
            </a:pPr>
            <a:r>
              <a:t>棚卸資産増減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C0392B"/>
                </a:solidFill>
              </a:defRPr>
            </a:pPr>
            <a:r>
              <a:t>△1,429百万円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37560" y="1097280"/>
            <a:ext cx="2743200" cy="5029200"/>
          </a:xfrm>
          <a:prstGeom prst="roundRect">
            <a:avLst/>
          </a:prstGeom>
          <a:solidFill>
            <a:srgbClr val="FFF5EB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1500"/>
              </a:spcAft>
              <a:defRPr sz="1600" b="1">
                <a:solidFill>
                  <a:srgbClr val="E67E22"/>
                </a:solidFill>
              </a:defRPr>
            </a:pPr>
            <a:r>
              <a:t>収益性の低迷</a:t>
            </a:r>
          </a:p>
          <a:p>
            <a:pPr algn="ctr">
              <a:spcBef>
                <a:spcPts val="400"/>
              </a:spcBef>
              <a:defRPr sz="1300" b="1"/>
            </a:pPr>
            <a:r>
              <a:t>総利益率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C0392B"/>
                </a:solidFill>
              </a:defRPr>
            </a:pPr>
            <a:r>
              <a:t>7.38%（低い）</a:t>
            </a:r>
          </a:p>
          <a:p>
            <a:pPr algn="ctr">
              <a:spcBef>
                <a:spcPts val="400"/>
              </a:spcBef>
              <a:defRPr sz="1300"/>
            </a:pPr>
          </a:p>
          <a:p>
            <a:pPr algn="ctr">
              <a:spcBef>
                <a:spcPts val="400"/>
              </a:spcBef>
              <a:defRPr sz="1300" b="1"/>
            </a:pPr>
            <a:r>
              <a:t>経常利益率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C0392B"/>
                </a:solidFill>
              </a:defRPr>
            </a:pPr>
            <a:r>
              <a:t>1.73%（低い）</a:t>
            </a:r>
          </a:p>
          <a:p>
            <a:pPr algn="ctr">
              <a:spcBef>
                <a:spcPts val="400"/>
              </a:spcBef>
              <a:defRPr sz="1300"/>
            </a:pPr>
          </a:p>
          <a:p>
            <a:pPr algn="ctr">
              <a:spcBef>
                <a:spcPts val="400"/>
              </a:spcBef>
              <a:defRPr sz="1300" b="1"/>
            </a:pPr>
            <a:r>
              <a:t>物流コスト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C0392B"/>
                </a:solidFill>
              </a:defRPr>
            </a:pPr>
            <a:r>
              <a:t>推定7-9%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2743200" cy="5029200"/>
          </a:xfrm>
          <a:prstGeom prst="roundRect">
            <a:avLst/>
          </a:prstGeom>
          <a:solidFill>
            <a:srgbClr val="F5F0FC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1500"/>
              </a:spcAft>
              <a:defRPr sz="1600" b="1">
                <a:solidFill>
                  <a:srgbClr val="8E44AD"/>
                </a:solidFill>
              </a:defRPr>
            </a:pPr>
            <a:r>
              <a:t>財務健全性の問題</a:t>
            </a:r>
          </a:p>
          <a:p>
            <a:pPr algn="ctr">
              <a:spcBef>
                <a:spcPts val="400"/>
              </a:spcBef>
              <a:defRPr sz="1300" b="1"/>
            </a:pPr>
            <a:r>
              <a:t>流動比率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C0392B"/>
                </a:solidFill>
              </a:defRPr>
            </a:pPr>
            <a:r>
              <a:t>91.06%（低い）</a:t>
            </a:r>
          </a:p>
          <a:p>
            <a:pPr algn="ctr">
              <a:spcBef>
                <a:spcPts val="400"/>
              </a:spcBef>
              <a:defRPr sz="1300"/>
            </a:pPr>
          </a:p>
          <a:p>
            <a:pPr algn="ctr">
              <a:spcBef>
                <a:spcPts val="400"/>
              </a:spcBef>
              <a:defRPr sz="1300" b="1"/>
            </a:pPr>
            <a:r>
              <a:t>在庫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C0392B"/>
                </a:solidFill>
              </a:defRPr>
            </a:pPr>
            <a:r>
              <a:t>14,000百万円</a:t>
            </a:r>
          </a:p>
          <a:p>
            <a:pPr algn="ctr">
              <a:spcBef>
                <a:spcPts val="400"/>
              </a:spcBef>
              <a:defRPr sz="1300"/>
            </a:pPr>
          </a:p>
          <a:p>
            <a:pPr algn="ctr">
              <a:spcBef>
                <a:spcPts val="400"/>
              </a:spcBef>
              <a:defRPr sz="1300" b="1"/>
            </a:pPr>
            <a:r>
              <a:t>回転日数</a:t>
            </a:r>
          </a:p>
          <a:p>
            <a:pPr algn="ctr">
              <a:spcBef>
                <a:spcPts val="400"/>
              </a:spcBef>
              <a:defRPr sz="1500" b="1">
                <a:solidFill>
                  <a:srgbClr val="C0392B"/>
                </a:solidFill>
              </a:defRPr>
            </a:pPr>
            <a:r>
              <a:t>業界+7-10日長い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822960"/>
            <a:ext cx="8229600" cy="256032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5490"/>
                </a:solidFill>
              </a:defRPr>
            </a:pPr>
            <a:r>
              <a:t>TDBレポート分析により、キャッシュフロー悪化・収益性低迷・財務健全性の問題が明らかになりました。</a:t>
            </a:r>
            <a:br/>
            <a:r>
              <a:t>これらは全て物流課題に起因しており、物流改革により抜本的改善が可能です。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490"/>
                </a:solidFill>
              </a:defRPr>
            </a:pPr>
            <a:r>
              <a:t>根本原因：4つの物流課題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931920" cy="23774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800"/>
              </a:spcAft>
              <a:defRPr sz="1500" b="1">
                <a:solidFill>
                  <a:srgbClr val="C0392B"/>
                </a:solidFill>
              </a:defRPr>
            </a:pPr>
            <a:r>
              <a:t>課題1：在庫管理の非効率</a:t>
            </a:r>
          </a:p>
          <a:p>
            <a:pPr>
              <a:spcBef>
                <a:spcPts val="400"/>
              </a:spcBef>
              <a:defRPr sz="1200"/>
            </a:pPr>
            <a:r>
              <a:t>在庫14,000百万円、回転日数+7-10日、予測システム未導入</a:t>
            </a:r>
          </a:p>
          <a:p>
            <a:pPr>
              <a:spcBef>
                <a:spcPts val="800"/>
              </a:spcBef>
              <a:defRPr sz="1200" b="1">
                <a:solidFill>
                  <a:srgbClr val="1A5490"/>
                </a:solidFill>
              </a:defRPr>
            </a:pPr>
            <a:r>
              <a:t>→ 運転資金圧迫、CF悪化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097280"/>
            <a:ext cx="3931920" cy="23774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800"/>
              </a:spcAft>
              <a:defRPr sz="1500" b="1">
                <a:solidFill>
                  <a:srgbClr val="C0392B"/>
                </a:solidFill>
              </a:defRPr>
            </a:pPr>
            <a:r>
              <a:t>課題2：物流コストの増大</a:t>
            </a:r>
          </a:p>
          <a:p>
            <a:pPr>
              <a:spcBef>
                <a:spcPts val="400"/>
              </a:spcBef>
              <a:defRPr sz="1200"/>
            </a:pPr>
            <a:r>
              <a:t>推定35,000百万円（7-9%）、配送非効率、積載率65-70%</a:t>
            </a:r>
          </a:p>
          <a:p>
            <a:pPr>
              <a:spcBef>
                <a:spcPts val="800"/>
              </a:spcBef>
              <a:defRPr sz="1200" b="1">
                <a:solidFill>
                  <a:srgbClr val="1A5490"/>
                </a:solidFill>
              </a:defRPr>
            </a:pPr>
            <a:r>
              <a:t>→ 経常利益率1.73%を圧迫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0"/>
            <a:ext cx="3931920" cy="23774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800"/>
              </a:spcAft>
              <a:defRPr sz="1500" b="1">
                <a:solidFill>
                  <a:srgbClr val="C0392B"/>
                </a:solidFill>
              </a:defRPr>
            </a:pPr>
            <a:r>
              <a:t>課題3：オペレーション非効率</a:t>
            </a:r>
          </a:p>
          <a:p>
            <a:pPr>
              <a:spcBef>
                <a:spcPts val="400"/>
              </a:spcBef>
              <a:defRPr sz="1200"/>
            </a:pPr>
            <a:r>
              <a:t>紙伝票、ミス率1-2%、生産性70-80%、属人化</a:t>
            </a:r>
          </a:p>
          <a:p>
            <a:pPr>
              <a:spcBef>
                <a:spcPts val="800"/>
              </a:spcBef>
              <a:defRPr sz="1200" b="1">
                <a:solidFill>
                  <a:srgbClr val="1A5490"/>
                </a:solidFill>
              </a:defRPr>
            </a:pPr>
            <a:r>
              <a:t>→ 固定費高止まり、品質問題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3840480"/>
            <a:ext cx="3931920" cy="23774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800"/>
              </a:spcAft>
              <a:defRPr sz="1500" b="1">
                <a:solidFill>
                  <a:srgbClr val="C0392B"/>
                </a:solidFill>
              </a:defRPr>
            </a:pPr>
            <a:r>
              <a:t>課題4：収益性・財務健全性</a:t>
            </a:r>
          </a:p>
          <a:p>
            <a:pPr>
              <a:spcBef>
                <a:spcPts val="400"/>
              </a:spcBef>
              <a:defRPr sz="1200"/>
            </a:pPr>
            <a:r>
              <a:t>総利益率7.38%、流動比率91.06%、調達コスト高</a:t>
            </a:r>
          </a:p>
          <a:p>
            <a:pPr>
              <a:spcBef>
                <a:spcPts val="800"/>
              </a:spcBef>
              <a:defRPr sz="1200" b="1">
                <a:solidFill>
                  <a:srgbClr val="1A5490"/>
                </a:solidFill>
              </a:defRPr>
            </a:pPr>
            <a:r>
              <a:t>→ 競争力低下、財務リスク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822960"/>
            <a:ext cx="8229600" cy="256032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5490"/>
                </a:solidFill>
              </a:defRPr>
            </a:pPr>
            <a:r>
              <a:t>財務課題の根本原因は4つの物流課題です。在庫管理・物流コスト・オペレーション効率・収益性の</a:t>
            </a:r>
            <a:br/>
            <a:r>
              <a:t>各課題が複合的に財務を圧迫しており、統合的なアプローチが必要です。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5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提案ソリューション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490"/>
                </a:solidFill>
              </a:defRPr>
            </a:pPr>
            <a:r>
              <a:t>提案ソリューション全体像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874A6"/>
                </a:solidFill>
              </a:defRPr>
            </a:pPr>
            <a:r>
              <a:t>3つの統合ソリューションで、在庫・物流コスト・オペレーション効率を抜本的に改善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8229600" cy="14630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400"/>
              </a:spcAft>
              <a:defRPr sz="1800" b="1">
                <a:solidFill>
                  <a:srgbClr val="C0392B"/>
                </a:solidFill>
              </a:defRPr>
            </a:pPr>
            <a:r>
              <a:t>① 高度在庫管理システム</a:t>
            </a:r>
          </a:p>
          <a:p>
            <a:pPr>
              <a:spcBef>
                <a:spcPts val="200"/>
              </a:spcBef>
              <a:defRPr sz="1300" i="1"/>
            </a:pPr>
            <a:r>
              <a:t>AI需要予測 × IMS × VMI</a:t>
            </a:r>
          </a:p>
          <a:p>
            <a:pPr>
              <a:spcBef>
                <a:spcPts val="800"/>
              </a:spcBef>
              <a:defRPr sz="1300" b="1">
                <a:solidFill>
                  <a:srgbClr val="27AE60"/>
                </a:solidFill>
              </a:defRPr>
            </a:pPr>
            <a:r>
              <a:t>投資：220-280百万円  |  効果：330-470百万円/年  |  ROI：0.5-0.8年</a:t>
            </a:r>
          </a:p>
          <a:p>
            <a:pPr>
              <a:spcBef>
                <a:spcPts val="400"/>
              </a:spcBef>
              <a:defRPr sz="1300">
                <a:solidFill>
                  <a:srgbClr val="1A5490"/>
                </a:solidFill>
              </a:defRPr>
            </a:pPr>
            <a:r>
              <a:t>→ CFマージン・流動比率改善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46120"/>
            <a:ext cx="8229600" cy="14630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400"/>
              </a:spcAft>
              <a:defRPr sz="1800" b="1">
                <a:solidFill>
                  <a:srgbClr val="C0392B"/>
                </a:solidFill>
              </a:defRPr>
            </a:pPr>
            <a:r>
              <a:t>② 統合物流プラットフォーム</a:t>
            </a:r>
          </a:p>
          <a:p>
            <a:pPr>
              <a:spcBef>
                <a:spcPts val="200"/>
              </a:spcBef>
              <a:defRPr sz="1300" i="1"/>
            </a:pPr>
            <a:r>
              <a:t>TMS × SCM × リアルタイム可視化</a:t>
            </a:r>
          </a:p>
          <a:p>
            <a:pPr>
              <a:spcBef>
                <a:spcPts val="800"/>
              </a:spcBef>
              <a:defRPr sz="1300" b="1">
                <a:solidFill>
                  <a:srgbClr val="27AE60"/>
                </a:solidFill>
              </a:defRPr>
            </a:pPr>
            <a:r>
              <a:t>投資：350-430百万円  |  効果：330-450百万円/年  |  ROI：0.8-1.3年</a:t>
            </a:r>
          </a:p>
          <a:p>
            <a:pPr>
              <a:spcBef>
                <a:spcPts val="400"/>
              </a:spcBef>
              <a:defRPr sz="1300">
                <a:solidFill>
                  <a:srgbClr val="1A5490"/>
                </a:solidFill>
              </a:defRPr>
            </a:pPr>
            <a:r>
              <a:t>→ 物流コスト削減・経常利益率改善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846320"/>
            <a:ext cx="8229600" cy="14630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400"/>
              </a:spcAft>
              <a:defRPr sz="1800" b="1">
                <a:solidFill>
                  <a:srgbClr val="C0392B"/>
                </a:solidFill>
              </a:defRPr>
            </a:pPr>
            <a:r>
              <a:t>③ 物流自動化・最適化</a:t>
            </a:r>
          </a:p>
          <a:p>
            <a:pPr>
              <a:spcBef>
                <a:spcPts val="200"/>
              </a:spcBef>
              <a:defRPr sz="1300" i="1"/>
            </a:pPr>
            <a:r>
              <a:t>次世代WMS × 倉庫自動化 × モーダルシフト</a:t>
            </a:r>
          </a:p>
          <a:p>
            <a:pPr>
              <a:spcBef>
                <a:spcPts val="800"/>
              </a:spcBef>
              <a:defRPr sz="1300" b="1">
                <a:solidFill>
                  <a:srgbClr val="27AE60"/>
                </a:solidFill>
              </a:defRPr>
            </a:pPr>
            <a:r>
              <a:t>投資：400-550百万円  |  効果：210-320百万円/年  |  ROI：1.3-2.6年</a:t>
            </a:r>
          </a:p>
          <a:p>
            <a:pPr>
              <a:spcBef>
                <a:spcPts val="400"/>
              </a:spcBef>
              <a:defRPr sz="1300">
                <a:solidFill>
                  <a:srgbClr val="1A5490"/>
                </a:solidFill>
              </a:defRPr>
            </a:pPr>
            <a:r>
              <a:t>→ 固定費削減・生産性向上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5490"/>
                </a:solidFill>
              </a:defRPr>
            </a:pPr>
            <a:r>
              <a:t>3つのソリューション詳細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8229600" cy="173736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600"/>
              </a:spcAft>
              <a:defRPr sz="1600" b="1">
                <a:solidFill>
                  <a:srgbClr val="C0392B"/>
                </a:solidFill>
              </a:defRPr>
            </a:pPr>
            <a:r>
              <a:t>① 高度在庫管理</a:t>
            </a:r>
          </a:p>
          <a:p>
            <a:pPr>
              <a:spcBef>
                <a:spcPts val="300"/>
              </a:spcBef>
              <a:defRPr sz="1300"/>
            </a:pPr>
            <a:r>
              <a:t>機能：AI需要予測、IMS、VMI、適正在庫算出</a:t>
            </a:r>
          </a:p>
          <a:p>
            <a:pPr>
              <a:spcBef>
                <a:spcPts val="500"/>
              </a:spcBef>
              <a:defRPr sz="1300" b="1">
                <a:solidFill>
                  <a:srgbClr val="27AE60"/>
                </a:solidFill>
              </a:defRPr>
            </a:pPr>
            <a:r>
              <a:t>効果：在庫削減1,000-2,000百万円、回転日数7-10日短縮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697479"/>
            <a:ext cx="8229600" cy="173736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600"/>
              </a:spcAft>
              <a:defRPr sz="1600" b="1">
                <a:solidFill>
                  <a:srgbClr val="C0392B"/>
                </a:solidFill>
              </a:defRPr>
            </a:pPr>
            <a:r>
              <a:t>② 統合物流PF</a:t>
            </a:r>
          </a:p>
          <a:p>
            <a:pPr>
              <a:spcBef>
                <a:spcPts val="300"/>
              </a:spcBef>
              <a:defRPr sz="1300"/>
            </a:pPr>
            <a:r>
              <a:t>機能：TMS配送最適化、SCM可視化、IoT追跡</a:t>
            </a:r>
          </a:p>
          <a:p>
            <a:pPr>
              <a:spcBef>
                <a:spcPts val="500"/>
              </a:spcBef>
              <a:defRPr sz="1300" b="1">
                <a:solidFill>
                  <a:srgbClr val="27AE60"/>
                </a:solidFill>
              </a:defRPr>
            </a:pPr>
            <a:r>
              <a:t>効果：配送コスト15-20%削減、積載率80-85%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571998"/>
            <a:ext cx="8229600" cy="173736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600"/>
              </a:spcAft>
              <a:defRPr sz="1600" b="1">
                <a:solidFill>
                  <a:srgbClr val="C0392B"/>
                </a:solidFill>
              </a:defRPr>
            </a:pPr>
            <a:r>
              <a:t>③ 物流自動化</a:t>
            </a:r>
          </a:p>
          <a:p>
            <a:pPr>
              <a:spcBef>
                <a:spcPts val="300"/>
              </a:spcBef>
              <a:defRPr sz="1300"/>
            </a:pPr>
            <a:r>
              <a:t>機能：次世代WMS、AGV、デジタルピッキング</a:t>
            </a:r>
          </a:p>
          <a:p>
            <a:pPr>
              <a:spcBef>
                <a:spcPts val="500"/>
              </a:spcBef>
              <a:defRPr sz="1300" b="1">
                <a:solidFill>
                  <a:srgbClr val="27AE60"/>
                </a:solidFill>
              </a:defRPr>
            </a:pPr>
            <a:r>
              <a:t>効果：生産性30-40%向上、人件費20-30%削減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490"/>
                </a:solidFill>
              </a:defRPr>
            </a:pPr>
            <a:r>
              <a:t>全体投資対効果サマリー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2286000" cy="457200"/>
          </a:xfrm>
          <a:prstGeom prst="rect">
            <a:avLst/>
          </a:prstGeom>
          <a:solidFill>
            <a:srgbClr val="1A549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ソリューション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0" y="1371600"/>
            <a:ext cx="1828800" cy="457200"/>
          </a:xfrm>
          <a:prstGeom prst="rect">
            <a:avLst/>
          </a:prstGeom>
          <a:solidFill>
            <a:srgbClr val="1A549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初期投資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371600"/>
            <a:ext cx="1828800" cy="457200"/>
          </a:xfrm>
          <a:prstGeom prst="rect">
            <a:avLst/>
          </a:prstGeom>
          <a:solidFill>
            <a:srgbClr val="1A549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年間効果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1371600"/>
            <a:ext cx="1371600" cy="457200"/>
          </a:xfrm>
          <a:prstGeom prst="rect">
            <a:avLst/>
          </a:prstGeom>
          <a:solidFill>
            <a:srgbClr val="1A549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ROI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2286000" cy="457200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① 高度在庫管理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828800"/>
            <a:ext cx="1828800" cy="457200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220-280百万円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828800"/>
            <a:ext cx="1828800" cy="457200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330-470百万円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828800"/>
            <a:ext cx="1371600" cy="457200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0.5-0.8年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86000"/>
            <a:ext cx="2286000" cy="457200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② 統合物流PF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286000"/>
            <a:ext cx="1828800" cy="457200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350-430百万円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2286000"/>
            <a:ext cx="1828800" cy="457200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330-450百万円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2286000"/>
            <a:ext cx="1371600" cy="457200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0.8-1.3年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743200"/>
            <a:ext cx="2286000" cy="457200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③ 物流自動化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2743200"/>
            <a:ext cx="1828800" cy="457200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400-550百万円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2743200"/>
            <a:ext cx="1828800" cy="457200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210-320百万円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2743200"/>
            <a:ext cx="1371600" cy="457200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/>
            </a:pPr>
            <a:r>
              <a:t>1.3-2.6年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200400"/>
            <a:ext cx="2286000" cy="457200"/>
          </a:xfrm>
          <a:prstGeom prst="rect">
            <a:avLst/>
          </a:prstGeom>
          <a:solidFill>
            <a:srgbClr val="FFFAE6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C0392B"/>
                </a:solidFill>
              </a:defRPr>
            </a:pPr>
            <a:r>
              <a:t>合計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3200400"/>
            <a:ext cx="1828800" cy="457200"/>
          </a:xfrm>
          <a:prstGeom prst="rect">
            <a:avLst/>
          </a:prstGeom>
          <a:solidFill>
            <a:srgbClr val="FFFAE6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C0392B"/>
                </a:solidFill>
              </a:defRPr>
            </a:pPr>
            <a:r>
              <a:t>970-1,260百万円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3200400"/>
            <a:ext cx="1828800" cy="457200"/>
          </a:xfrm>
          <a:prstGeom prst="rect">
            <a:avLst/>
          </a:prstGeom>
          <a:solidFill>
            <a:srgbClr val="FFFAE6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C0392B"/>
                </a:solidFill>
              </a:defRPr>
            </a:pPr>
            <a:r>
              <a:t>870-1,240百万円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3200400"/>
            <a:ext cx="1371600" cy="457200"/>
          </a:xfrm>
          <a:prstGeom prst="rect">
            <a:avLst/>
          </a:prstGeom>
          <a:solidFill>
            <a:srgbClr val="FFFAE6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C0392B"/>
                </a:solidFill>
              </a:defRPr>
            </a:pPr>
            <a:r>
              <a:t>1.1-1.4年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114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27AE60"/>
                </a:solidFill>
              </a:defRPr>
            </a:pPr>
            <a:r>
              <a:t>■ 投資回収のポイント</a:t>
            </a:r>
          </a:p>
          <a:p>
            <a:pPr>
              <a:spcBef>
                <a:spcPts val="600"/>
              </a:spcBef>
              <a:defRPr sz="1600" b="1"/>
            </a:pPr>
            <a:r>
              <a:t>✓ Year 2後半には投資回収完了</a:t>
            </a:r>
          </a:p>
          <a:p>
            <a:pPr>
              <a:spcBef>
                <a:spcPts val="600"/>
              </a:spcBef>
              <a:defRPr sz="1600" b="1"/>
            </a:pPr>
            <a:r>
              <a:t>✓ Year 3以降はフルベネフィット創出</a:t>
            </a:r>
          </a:p>
          <a:p>
            <a:pPr>
              <a:spcBef>
                <a:spcPts val="600"/>
              </a:spcBef>
              <a:defRPr sz="1600" b="1"/>
            </a:pPr>
            <a:r>
              <a:t>✓ 早期のクイックウィンで投資の正当性を実証</a:t>
            </a:r>
          </a:p>
          <a:p>
            <a:pPr>
              <a:spcBef>
                <a:spcPts val="600"/>
              </a:spcBef>
              <a:defRPr sz="1600" b="1"/>
            </a:pPr>
            <a:r>
              <a:t>✓ 段階的投資でリスクを最小化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822960"/>
            <a:ext cx="6766560" cy="256032"/>
          </a:xfrm>
          <a:prstGeom prst="roundRect">
            <a:avLst/>
          </a:prstGeom>
          <a:solidFill>
            <a:srgbClr val="F0FFF0"/>
          </a:solidFill>
          <a:ln w="127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5490"/>
                </a:solidFill>
              </a:defRPr>
            </a:pPr>
            <a:r>
              <a:t>3つのソリューションを統合実施することで、年間870-1,240百万円の効果を創出。</a:t>
            </a:r>
            <a:br/>
            <a:r>
              <a:t>投資は1.1-1.4年で回収でき、Year 2後半には投資回収が完了します。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5490"/>
                </a:solidFill>
              </a:defRPr>
            </a:pPr>
            <a:r>
              <a:t>財務指標改善シミュレーション（3年後）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188720"/>
            <a:ext cx="2011680" cy="411480"/>
          </a:xfrm>
          <a:prstGeom prst="rect">
            <a:avLst/>
          </a:prstGeom>
          <a:solidFill>
            <a:srgbClr val="1A549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財務指標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0" y="1188720"/>
            <a:ext cx="1645920" cy="411480"/>
          </a:xfrm>
          <a:prstGeom prst="rect">
            <a:avLst/>
          </a:prstGeom>
          <a:solidFill>
            <a:srgbClr val="1A549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現状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188720"/>
            <a:ext cx="1645920" cy="411480"/>
          </a:xfrm>
          <a:prstGeom prst="rect">
            <a:avLst/>
          </a:prstGeom>
          <a:solidFill>
            <a:srgbClr val="1A549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改善後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1645920" cy="411480"/>
          </a:xfrm>
          <a:prstGeom prst="rect">
            <a:avLst/>
          </a:prstGeom>
          <a:solidFill>
            <a:srgbClr val="1A549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改善幅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600200"/>
            <a:ext cx="201168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営業CF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1600200"/>
            <a:ext cx="164592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4,653百万円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600200"/>
            <a:ext cx="164592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18,000-20,000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600200"/>
            <a:ext cx="164592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C0392B"/>
                </a:solidFill>
              </a:defRPr>
            </a:pPr>
            <a:r>
              <a:t>+13,000-15,000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1984248"/>
            <a:ext cx="201168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CFマージン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1984248"/>
            <a:ext cx="164592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-3.12%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984248"/>
            <a:ext cx="164592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3.5-4.0%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984248"/>
            <a:ext cx="164592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C0392B"/>
                </a:solidFill>
              </a:defRPr>
            </a:pPr>
            <a:r>
              <a:t>+6.5-7.0pt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2505456"/>
            <a:ext cx="201168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総利益率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2505456"/>
            <a:ext cx="164592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7.38%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2505456"/>
            <a:ext cx="164592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9.0-10.0%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505456"/>
            <a:ext cx="164592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C0392B"/>
                </a:solidFill>
              </a:defRPr>
            </a:pPr>
            <a:r>
              <a:t>+1.6-2.6pt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2889504"/>
            <a:ext cx="201168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経常利益率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2889504"/>
            <a:ext cx="164592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1.73%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2889504"/>
            <a:ext cx="164592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3.0-3.5%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889504"/>
            <a:ext cx="164592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C0392B"/>
                </a:solidFill>
              </a:defRPr>
            </a:pPr>
            <a:r>
              <a:t>+1.3-1.8pt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3273552"/>
            <a:ext cx="201168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流動比率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08960" y="3273552"/>
            <a:ext cx="164592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91.06%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3273552"/>
            <a:ext cx="164592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120-130%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273552"/>
            <a:ext cx="164592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C0392B"/>
                </a:solidFill>
              </a:defRPr>
            </a:pPr>
            <a:r>
              <a:t>+29-39pt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3794760"/>
            <a:ext cx="201168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物流コスト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08960" y="3794760"/>
            <a:ext cx="164592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35,000百万円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3794760"/>
            <a:ext cx="164592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31,000-32,000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794760"/>
            <a:ext cx="1645920" cy="384048"/>
          </a:xfrm>
          <a:prstGeom prst="rect">
            <a:avLst/>
          </a:prstGeom>
          <a:solidFill>
            <a:srgbClr val="F5F8FC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C0392B"/>
                </a:solidFill>
              </a:defRPr>
            </a:pPr>
            <a:r>
              <a:t>△3,000-4,000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7280" y="822960"/>
            <a:ext cx="6035040" cy="292608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5490"/>
                </a:solidFill>
              </a:defRPr>
            </a:pPr>
            <a:r>
              <a:t>システム導入から3年後の目標値です。営業CFマージンはマイナスからプラス転換し、</a:t>
            </a:r>
            <a:br/>
            <a:r>
              <a:t>収益性・財務健全性が大幅に改善。業界標準水準まで向上します。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5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実行計画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490"/>
                </a:solidFill>
              </a:defRPr>
            </a:pPr>
            <a:r>
              <a:t>実行ロードマップ（36ヶ月）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8229600" cy="1737360"/>
          </a:xfrm>
          <a:prstGeom prst="roundRect">
            <a:avLst/>
          </a:prstGeom>
          <a:solidFill>
            <a:srgbClr val="FFF0F0"/>
          </a:solidFill>
          <a:ln w="254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800"/>
              </a:spcAft>
              <a:defRPr sz="1700" b="1">
                <a:solidFill>
                  <a:srgbClr val="1A5490"/>
                </a:solidFill>
              </a:defRPr>
            </a:pPr>
            <a:r>
              <a:t>Phase 1：基盤構築・クイックウィン　（Month 0-6）</a:t>
            </a:r>
          </a:p>
          <a:p>
            <a:pPr>
              <a:spcBef>
                <a:spcPts val="400"/>
              </a:spcBef>
              <a:defRPr sz="1300"/>
            </a:pPr>
            <a:r>
              <a:t>• 在庫可視化、倉庫改善（1拠点）</a:t>
            </a:r>
          </a:p>
          <a:p>
            <a:pPr>
              <a:spcBef>
                <a:spcPts val="400"/>
              </a:spcBef>
              <a:defRPr sz="1300"/>
            </a:pPr>
            <a:r>
              <a:t>• 物流コスト可視化</a:t>
            </a:r>
          </a:p>
          <a:p>
            <a:pPr>
              <a:spcBef>
                <a:spcPts val="400"/>
              </a:spcBef>
              <a:defRPr sz="1300"/>
            </a:pPr>
            <a:r>
              <a:t>• 早期成果創出</a:t>
            </a:r>
          </a:p>
          <a:p>
            <a:pPr>
              <a:spcBef>
                <a:spcPts val="1000"/>
              </a:spcBef>
              <a:defRPr sz="1400" b="1">
                <a:solidFill>
                  <a:srgbClr val="C0392B"/>
                </a:solidFill>
              </a:defRPr>
            </a:pPr>
            <a:r>
              <a:t>期待効果：150-300百万円/年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971799"/>
            <a:ext cx="8229600" cy="1737360"/>
          </a:xfrm>
          <a:prstGeom prst="roundRect">
            <a:avLst/>
          </a:prstGeom>
          <a:solidFill>
            <a:srgbClr val="FFFAE6"/>
          </a:solidFill>
          <a:ln w="254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800"/>
              </a:spcAft>
              <a:defRPr sz="1700" b="1">
                <a:solidFill>
                  <a:srgbClr val="1A5490"/>
                </a:solidFill>
              </a:defRPr>
            </a:pPr>
            <a:r>
              <a:t>Phase 2：コアシステム導入・展開　（Month 6-18）</a:t>
            </a:r>
          </a:p>
          <a:p>
            <a:pPr>
              <a:spcBef>
                <a:spcPts val="400"/>
              </a:spcBef>
              <a:defRPr sz="1300"/>
            </a:pPr>
            <a:r>
              <a:t>• 需要予測、適正在庫基準</a:t>
            </a:r>
          </a:p>
          <a:p>
            <a:pPr>
              <a:spcBef>
                <a:spcPts val="400"/>
              </a:spcBef>
              <a:defRPr sz="1300"/>
            </a:pPr>
            <a:r>
              <a:t>• 配送最適化、VMI/IoTパイロット</a:t>
            </a:r>
          </a:p>
          <a:p>
            <a:pPr>
              <a:spcBef>
                <a:spcPts val="400"/>
              </a:spcBef>
              <a:defRPr sz="1300"/>
            </a:pPr>
            <a:r>
              <a:t>• システム選定・要件定義</a:t>
            </a:r>
          </a:p>
          <a:p>
            <a:pPr>
              <a:spcBef>
                <a:spcPts val="1000"/>
              </a:spcBef>
              <a:defRPr sz="1400" b="1">
                <a:solidFill>
                  <a:srgbClr val="C0392B"/>
                </a:solidFill>
              </a:defRPr>
            </a:pPr>
            <a:r>
              <a:t>期待効果：500-700百万円/年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846318"/>
            <a:ext cx="8229600" cy="1737360"/>
          </a:xfrm>
          <a:prstGeom prst="roundRect">
            <a:avLst/>
          </a:prstGeom>
          <a:solidFill>
            <a:srgbClr val="F0FFF0"/>
          </a:solidFill>
          <a:ln w="254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800"/>
              </a:spcAft>
              <a:defRPr sz="1700" b="1">
                <a:solidFill>
                  <a:srgbClr val="1A5490"/>
                </a:solidFill>
              </a:defRPr>
            </a:pPr>
            <a:r>
              <a:t>Phase 3：全社展開・定着化　（Month 18-36）</a:t>
            </a:r>
          </a:p>
          <a:p>
            <a:pPr>
              <a:spcBef>
                <a:spcPts val="400"/>
              </a:spcBef>
              <a:defRPr sz="1300"/>
            </a:pPr>
            <a:r>
              <a:t>• システム本格稼働（WMS/TMS）</a:t>
            </a:r>
          </a:p>
          <a:p>
            <a:pPr>
              <a:spcBef>
                <a:spcPts val="400"/>
              </a:spcBef>
              <a:defRPr sz="1300"/>
            </a:pPr>
            <a:r>
              <a:t>• 全拠点展開、VMI/IoT拡大</a:t>
            </a:r>
          </a:p>
          <a:p>
            <a:pPr>
              <a:spcBef>
                <a:spcPts val="400"/>
              </a:spcBef>
              <a:defRPr sz="1300"/>
            </a:pPr>
            <a:r>
              <a:t>• 自走体制確立</a:t>
            </a:r>
          </a:p>
          <a:p>
            <a:pPr>
              <a:spcBef>
                <a:spcPts val="1000"/>
              </a:spcBef>
              <a:defRPr sz="1400" b="1">
                <a:solidFill>
                  <a:srgbClr val="C0392B"/>
                </a:solidFill>
              </a:defRPr>
            </a:pPr>
            <a:r>
              <a:t>期待効果：870-1,240百万円/年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822960"/>
            <a:ext cx="8229600" cy="256032"/>
          </a:xfrm>
          <a:prstGeom prst="roundRect">
            <a:avLst/>
          </a:prstGeom>
          <a:solidFill>
            <a:srgbClr val="FFFAEB"/>
          </a:solidFill>
          <a:ln w="127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5490"/>
                </a:solidFill>
              </a:defRPr>
            </a:pPr>
            <a:r>
              <a:t>36ヶ月を3フェーズに分け、段階的に実施。Phase 1でクイックウィンを創出し早期に効果を実証、</a:t>
            </a:r>
            <a:br/>
            <a:r>
              <a:t>Phase 2で本格展開、Phase 3で全社展開・自走体制を確立します。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5490"/>
                </a:solidFill>
              </a:defRPr>
            </a:pPr>
            <a:r>
              <a:t>期待効果まとめ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743200" cy="5303520"/>
          </a:xfrm>
          <a:prstGeom prst="roundRect">
            <a:avLst/>
          </a:prstGeom>
          <a:solidFill>
            <a:srgbClr val="F0FFF0"/>
          </a:solidFill>
          <a:ln w="254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1200"/>
              </a:spcAft>
              <a:defRPr sz="1600" b="1">
                <a:solidFill>
                  <a:srgbClr val="1A5490"/>
                </a:solidFill>
              </a:defRPr>
            </a:pPr>
            <a:r>
              <a:t>財務指標の改善</a:t>
            </a:r>
          </a:p>
          <a:p>
            <a:pPr>
              <a:spcBef>
                <a:spcPts val="800"/>
              </a:spcBef>
              <a:defRPr sz="1200"/>
            </a:pPr>
            <a:r>
              <a:t>• CFマージン：-3.12% → 3.5-4.0%</a:t>
            </a:r>
          </a:p>
          <a:p>
            <a:pPr>
              <a:spcBef>
                <a:spcPts val="800"/>
              </a:spcBef>
              <a:defRPr sz="1200"/>
            </a:pPr>
            <a:r>
              <a:t>• 経常利益率：1.73% → 3.0-3.5%</a:t>
            </a:r>
          </a:p>
          <a:p>
            <a:pPr>
              <a:spcBef>
                <a:spcPts val="800"/>
              </a:spcBef>
              <a:defRPr sz="1200"/>
            </a:pPr>
            <a:r>
              <a:t>• 総利益率：7.38% → 9.0-10.0%</a:t>
            </a:r>
          </a:p>
          <a:p>
            <a:pPr>
              <a:spcBef>
                <a:spcPts val="800"/>
              </a:spcBef>
              <a:defRPr sz="1200"/>
            </a:pPr>
            <a:r>
              <a:t>• 流動比率：91.06% → 120-130%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37560" y="1097280"/>
            <a:ext cx="2743200" cy="530352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1200"/>
              </a:spcAft>
              <a:defRPr sz="1600" b="1">
                <a:solidFill>
                  <a:srgbClr val="1A5490"/>
                </a:solidFill>
              </a:defRPr>
            </a:pPr>
            <a:r>
              <a:t>業務改善効果</a:t>
            </a:r>
          </a:p>
          <a:p>
            <a:pPr>
              <a:spcBef>
                <a:spcPts val="800"/>
              </a:spcBef>
              <a:defRPr sz="1200"/>
            </a:pPr>
            <a:r>
              <a:t>• 在庫削減：1,000-2,000百万円</a:t>
            </a:r>
          </a:p>
          <a:p>
            <a:pPr>
              <a:spcBef>
                <a:spcPts val="800"/>
              </a:spcBef>
              <a:defRPr sz="1200"/>
            </a:pPr>
            <a:r>
              <a:t>• 物流コスト削減：3,000-4,000百万円/年</a:t>
            </a:r>
          </a:p>
          <a:p>
            <a:pPr>
              <a:spcBef>
                <a:spcPts val="800"/>
              </a:spcBef>
              <a:defRPr sz="1200"/>
            </a:pPr>
            <a:r>
              <a:t>• 運転資金解放：5-7億円</a:t>
            </a:r>
          </a:p>
          <a:p>
            <a:pPr>
              <a:spcBef>
                <a:spcPts val="800"/>
              </a:spcBef>
              <a:defRPr sz="1200"/>
            </a:pPr>
            <a:r>
              <a:t>• 倉庫生産性向上：30-40%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2743200" cy="5303520"/>
          </a:xfrm>
          <a:prstGeom prst="roundRect">
            <a:avLst/>
          </a:prstGeom>
          <a:solidFill>
            <a:srgbClr val="FFFAF0"/>
          </a:solidFill>
          <a:ln w="254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1200"/>
              </a:spcAft>
              <a:defRPr sz="1600" b="1">
                <a:solidFill>
                  <a:srgbClr val="1A5490"/>
                </a:solidFill>
              </a:defRPr>
            </a:pPr>
            <a:r>
              <a:t>経営基盤の強化</a:t>
            </a:r>
          </a:p>
          <a:p>
            <a:pPr>
              <a:spcBef>
                <a:spcPts val="800"/>
              </a:spcBef>
              <a:defRPr sz="1200"/>
            </a:pPr>
            <a:r>
              <a:t>• データドリブン経営の実現</a:t>
            </a:r>
          </a:p>
          <a:p>
            <a:pPr>
              <a:spcBef>
                <a:spcPts val="800"/>
              </a:spcBef>
              <a:defRPr sz="1200"/>
            </a:pPr>
            <a:r>
              <a:t>• SCMの可視化・最適化</a:t>
            </a:r>
          </a:p>
          <a:p>
            <a:pPr>
              <a:spcBef>
                <a:spcPts val="800"/>
              </a:spcBef>
              <a:defRPr sz="1200"/>
            </a:pPr>
            <a:r>
              <a:t>• 競争力強化</a:t>
            </a:r>
          </a:p>
          <a:p>
            <a:pPr>
              <a:spcBef>
                <a:spcPts val="800"/>
              </a:spcBef>
              <a:defRPr sz="1200"/>
            </a:pPr>
            <a:r>
              <a:t>• 事業成長の基盤構築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822960"/>
            <a:ext cx="8229600" cy="256032"/>
          </a:xfrm>
          <a:prstGeom prst="roundRect">
            <a:avLst/>
          </a:prstGeom>
          <a:solidFill>
            <a:srgbClr val="F0FFF0"/>
          </a:solidFill>
          <a:ln w="127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5490"/>
                </a:solidFill>
              </a:defRPr>
            </a:pPr>
            <a:r>
              <a:t>財務指標の改善だけでなく、業務プロセスの効率化と経営基盤の強化により、</a:t>
            </a:r>
            <a:br/>
            <a:r>
              <a:t>持続的な競争力を構築。データドリブン経営を実現します。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5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協業プロジェクト計画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5490"/>
                </a:solidFill>
              </a:defRPr>
            </a:pPr>
            <a:r>
              <a:t>協業アプローチ：テーマ別段階的実現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8229600" cy="594360"/>
          </a:xfrm>
          <a:prstGeom prst="roundRect">
            <a:avLst/>
          </a:prstGeom>
          <a:solidFill>
            <a:srgbClr val="E6F0FA"/>
          </a:solidFill>
          <a:ln w="254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500" b="1">
                <a:solidFill>
                  <a:srgbClr val="1A5490"/>
                </a:solidFill>
              </a:defRPr>
            </a:pPr>
            <a:r>
              <a:t>現場実務に深く入り込み、テーマ別に段階的に成果を創出。</a:t>
            </a:r>
            <a:br/>
            <a:r>
              <a:t>クイックウィンで早期効果を実証し、確実に物流改革を実現します。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3931920" cy="448056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Aft>
                <a:spcPts val="800"/>
              </a:spcAft>
              <a:defRPr sz="1800" b="1">
                <a:solidFill>
                  <a:srgbClr val="1A5490"/>
                </a:solidFill>
              </a:defRPr>
            </a:pPr>
            <a:r>
              <a:t>■ 基本方針</a:t>
            </a:r>
          </a:p>
          <a:p>
            <a:pPr>
              <a:spcBef>
                <a:spcPts val="1000"/>
              </a:spcBef>
              <a:defRPr sz="1300" b="1">
                <a:solidFill>
                  <a:srgbClr val="C0392B"/>
                </a:solidFill>
              </a:defRPr>
            </a:pPr>
            <a:r>
              <a:t>✓ テーマ別プロジェクトで段階的に成果創出</a:t>
            </a:r>
          </a:p>
          <a:p>
            <a:pPr>
              <a:spcBef>
                <a:spcPts val="1000"/>
              </a:spcBef>
              <a:defRPr sz="1300" b="1">
                <a:solidFill>
                  <a:srgbClr val="C0392B"/>
                </a:solidFill>
              </a:defRPr>
            </a:pPr>
            <a:r>
              <a:t>✓ 現場実務に深く入り込み、実態を理解</a:t>
            </a:r>
          </a:p>
          <a:p>
            <a:pPr>
              <a:spcBef>
                <a:spcPts val="1000"/>
              </a:spcBef>
              <a:defRPr sz="1300" b="1">
                <a:solidFill>
                  <a:srgbClr val="C0392B"/>
                </a:solidFill>
              </a:defRPr>
            </a:pPr>
            <a:r>
              <a:t>✓ クイックウィンで早期効果を実証</a:t>
            </a:r>
          </a:p>
          <a:p>
            <a:pPr>
              <a:spcBef>
                <a:spcPts val="1000"/>
              </a:spcBef>
              <a:defRPr sz="1300" b="1">
                <a:solidFill>
                  <a:srgbClr val="C0392B"/>
                </a:solidFill>
              </a:defRPr>
            </a:pPr>
            <a:r>
              <a:t>✓ パイロット→検証→横展開</a:t>
            </a:r>
          </a:p>
          <a:p>
            <a:pPr>
              <a:spcBef>
                <a:spcPts val="1000"/>
              </a:spcBef>
              <a:defRPr sz="1300" b="1">
                <a:solidFill>
                  <a:srgbClr val="C0392B"/>
                </a:solidFill>
              </a:defRPr>
            </a:pPr>
            <a:r>
              <a:t>✓ 貴社メンバーと協働、ノウハウ移転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691640"/>
            <a:ext cx="3931920" cy="4480560"/>
          </a:xfrm>
          <a:prstGeom prst="roundRect">
            <a:avLst/>
          </a:prstGeom>
          <a:solidFill>
            <a:srgbClr val="FCF5F5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Aft>
                <a:spcPts val="1000"/>
              </a:spcAft>
              <a:defRPr sz="1800" b="1">
                <a:solidFill>
                  <a:srgbClr val="C0392B"/>
                </a:solidFill>
              </a:defRPr>
            </a:pPr>
            <a:r>
              <a:t>■ プロジェクト期間：36ヶ月</a:t>
            </a:r>
          </a:p>
          <a:p>
            <a:pPr>
              <a:spcBef>
                <a:spcPts val="1000"/>
              </a:spcBef>
              <a:defRPr sz="1500" b="1">
                <a:solidFill>
                  <a:srgbClr val="1A5490"/>
                </a:solidFill>
              </a:defRPr>
            </a:pPr>
            <a:r>
              <a:t>Year 1（Month 1-6）</a:t>
            </a:r>
          </a:p>
          <a:p>
            <a:pPr>
              <a:spcBef>
                <a:spcPts val="300"/>
              </a:spcBef>
              <a:defRPr sz="1200"/>
            </a:pPr>
            <a:r>
              <a:t>現状可視化、クイックウィン</a:t>
            </a:r>
          </a:p>
          <a:p>
            <a:pPr>
              <a:spcBef>
                <a:spcPts val="300"/>
              </a:spcBef>
              <a:defRPr sz="1200" b="1">
                <a:solidFill>
                  <a:srgbClr val="C0392B"/>
                </a:solidFill>
              </a:defRPr>
            </a:pPr>
            <a:r>
              <a:t>効果：150-300百万円/年</a:t>
            </a:r>
          </a:p>
          <a:p>
            <a:pPr>
              <a:spcBef>
                <a:spcPts val="1000"/>
              </a:spcBef>
              <a:defRPr sz="1500" b="1">
                <a:solidFill>
                  <a:srgbClr val="1A5490"/>
                </a:solidFill>
              </a:defRPr>
            </a:pPr>
            <a:r>
              <a:t>Year 2（Month 7-18）</a:t>
            </a:r>
          </a:p>
          <a:p>
            <a:pPr>
              <a:spcBef>
                <a:spcPts val="300"/>
              </a:spcBef>
              <a:defRPr sz="1200"/>
            </a:pPr>
            <a:r>
              <a:t>基盤構築、パイロット実施</a:t>
            </a:r>
          </a:p>
          <a:p>
            <a:pPr>
              <a:spcBef>
                <a:spcPts val="300"/>
              </a:spcBef>
              <a:defRPr sz="1200" b="1">
                <a:solidFill>
                  <a:srgbClr val="C0392B"/>
                </a:solidFill>
              </a:defRPr>
            </a:pPr>
            <a:r>
              <a:t>効果：500-700百万円/年</a:t>
            </a:r>
          </a:p>
          <a:p>
            <a:pPr>
              <a:spcBef>
                <a:spcPts val="1000"/>
              </a:spcBef>
              <a:defRPr sz="1500" b="1">
                <a:solidFill>
                  <a:srgbClr val="1A5490"/>
                </a:solidFill>
              </a:defRPr>
            </a:pPr>
            <a:r>
              <a:t>Year 3（Month 19-36）</a:t>
            </a:r>
          </a:p>
          <a:p>
            <a:pPr>
              <a:spcBef>
                <a:spcPts val="300"/>
              </a:spcBef>
              <a:defRPr sz="1200"/>
            </a:pPr>
            <a:r>
              <a:t>全社展開、自走体制確立</a:t>
            </a:r>
          </a:p>
          <a:p>
            <a:pPr>
              <a:spcBef>
                <a:spcPts val="300"/>
              </a:spcBef>
              <a:defRPr sz="1200" b="1">
                <a:solidFill>
                  <a:srgbClr val="C0392B"/>
                </a:solidFill>
              </a:defRPr>
            </a:pPr>
            <a:r>
              <a:t>効果：870-1,240百万円/年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5490"/>
                </a:solidFill>
              </a:defRPr>
            </a:pPr>
            <a:r>
              <a:t>10の重点テーマ（1/2）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8229600" cy="105156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600"/>
              </a:spcAft>
              <a:defRPr sz="1600" b="1">
                <a:solidFill>
                  <a:srgbClr val="C0392B"/>
                </a:solidFill>
              </a:defRPr>
            </a:pPr>
            <a:r>
              <a:t>テーマ1：在庫可視化</a:t>
            </a:r>
          </a:p>
          <a:p>
            <a:pPr>
              <a:spcBef>
                <a:spcPts val="300"/>
              </a:spcBef>
              <a:defRPr sz="1300"/>
            </a:pPr>
            <a:r>
              <a:t>効果：滞留在庫特定、即時削減200-500百万円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48840"/>
            <a:ext cx="8229600" cy="105156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600"/>
              </a:spcAft>
              <a:defRPr sz="1600" b="1">
                <a:solidFill>
                  <a:srgbClr val="C0392B"/>
                </a:solidFill>
              </a:defRPr>
            </a:pPr>
            <a:r>
              <a:t>テーマ2：需要予測向上</a:t>
            </a:r>
          </a:p>
          <a:p>
            <a:pPr>
              <a:spcBef>
                <a:spcPts val="300"/>
              </a:spcBef>
              <a:defRPr sz="1300"/>
            </a:pPr>
            <a:r>
              <a:t>効果：誤差±15%→±5-8%、在庫削減300-600百万円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105156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600"/>
              </a:spcAft>
              <a:defRPr sz="1600" b="1">
                <a:solidFill>
                  <a:srgbClr val="C0392B"/>
                </a:solidFill>
              </a:defRPr>
            </a:pPr>
            <a:r>
              <a:t>テーマ3：適正在庫基準</a:t>
            </a:r>
          </a:p>
          <a:p>
            <a:pPr>
              <a:spcBef>
                <a:spcPts val="300"/>
              </a:spcBef>
              <a:defRPr sz="1300"/>
            </a:pPr>
            <a:r>
              <a:t>効果：回転日数7-10日短縮、在庫削減800-1,500百万円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434840"/>
            <a:ext cx="8229600" cy="105156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600"/>
              </a:spcAft>
              <a:defRPr sz="1600" b="1">
                <a:solidFill>
                  <a:srgbClr val="C0392B"/>
                </a:solidFill>
              </a:defRPr>
            </a:pPr>
            <a:r>
              <a:t>テーマ4：配送最適化</a:t>
            </a:r>
          </a:p>
          <a:p>
            <a:pPr>
              <a:spcBef>
                <a:spcPts val="300"/>
              </a:spcBef>
              <a:defRPr sz="1300"/>
            </a:pPr>
            <a:r>
              <a:t>効果：配送コスト15-20%削減、500-800百万円/年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577840"/>
            <a:ext cx="8229600" cy="105156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600"/>
              </a:spcAft>
              <a:defRPr sz="1600" b="1">
                <a:solidFill>
                  <a:srgbClr val="C0392B"/>
                </a:solidFill>
              </a:defRPr>
            </a:pPr>
            <a:r>
              <a:t>テーマ5：倉庫改善</a:t>
            </a:r>
          </a:p>
          <a:p>
            <a:pPr>
              <a:spcBef>
                <a:spcPts val="300"/>
              </a:spcBef>
              <a:defRPr sz="1300"/>
            </a:pPr>
            <a:r>
              <a:t>効果：生産性20-30%向上、人件費50-100百万円削減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777240"/>
            <a:ext cx="8229600" cy="201168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5490"/>
                </a:solidFill>
              </a:defRPr>
            </a:pPr>
            <a:r>
              <a:t>10のテーマを段階的に実施。各テーマで具体的な成果を創出し、確実に物流改革を進めます。</a:t>
            </a:r>
            <a:br/>
            <a:r>
              <a:t>テーマ1-5では在庫・配送・倉庫の基本改善を実施します。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5490"/>
                </a:solidFill>
              </a:defRPr>
            </a:pPr>
            <a:r>
              <a:t>10の重点テーマ（2/2）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8229600" cy="105156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600"/>
              </a:spcAft>
              <a:defRPr sz="1600" b="1">
                <a:solidFill>
                  <a:srgbClr val="C0392B"/>
                </a:solidFill>
              </a:defRPr>
            </a:pPr>
            <a:r>
              <a:t>テーマ6：物流コスト可視化</a:t>
            </a:r>
          </a:p>
          <a:p>
            <a:pPr>
              <a:spcBef>
                <a:spcPts val="300"/>
              </a:spcBef>
              <a:defRPr sz="1300"/>
            </a:pPr>
            <a:r>
              <a:t>効果：コスト構造把握、改善ターゲット特定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48840"/>
            <a:ext cx="8229600" cy="105156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600"/>
              </a:spcAft>
              <a:defRPr sz="1600" b="1">
                <a:solidFill>
                  <a:srgbClr val="C0392B"/>
                </a:solidFill>
              </a:defRPr>
            </a:pPr>
            <a:r>
              <a:t>テーマ7：VMIパイロット</a:t>
            </a:r>
          </a:p>
          <a:p>
            <a:pPr>
              <a:spcBef>
                <a:spcPts val="300"/>
              </a:spcBef>
              <a:defRPr sz="1300"/>
            </a:pPr>
            <a:r>
              <a:t>効果：在庫20-30%削減、欠品率50%削減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105156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600"/>
              </a:spcAft>
              <a:defRPr sz="1600" b="1">
                <a:solidFill>
                  <a:srgbClr val="C0392B"/>
                </a:solidFill>
              </a:defRPr>
            </a:pPr>
            <a:r>
              <a:t>テーマ8：IoT・デジタル化</a:t>
            </a:r>
          </a:p>
          <a:p>
            <a:pPr>
              <a:spcBef>
                <a:spcPts val="300"/>
              </a:spcBef>
              <a:defRPr sz="1300"/>
            </a:pPr>
            <a:r>
              <a:t>効果：リアルタイム可視化、配送効率化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434840"/>
            <a:ext cx="8229600" cy="105156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600"/>
              </a:spcAft>
              <a:defRPr sz="1600" b="1">
                <a:solidFill>
                  <a:srgbClr val="C0392B"/>
                </a:solidFill>
              </a:defRPr>
            </a:pPr>
            <a:r>
              <a:t>テーマ9：人材育成</a:t>
            </a:r>
          </a:p>
          <a:p>
            <a:pPr>
              <a:spcBef>
                <a:spcPts val="300"/>
              </a:spcBef>
              <a:defRPr sz="1300"/>
            </a:pPr>
            <a:r>
              <a:t>効果：スキル向上、多能工化、属人化解消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577840"/>
            <a:ext cx="8229600" cy="105156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600"/>
              </a:spcAft>
              <a:defRPr sz="1600" b="1">
                <a:solidFill>
                  <a:srgbClr val="C0392B"/>
                </a:solidFill>
              </a:defRPr>
            </a:pPr>
            <a:r>
              <a:t>テーマ10：KPIダッシュボード</a:t>
            </a:r>
          </a:p>
          <a:p>
            <a:pPr>
              <a:spcBef>
                <a:spcPts val="300"/>
              </a:spcBef>
              <a:defRPr sz="1300"/>
            </a:pPr>
            <a:r>
              <a:t>効果：経営可視化、データドリブン経営実現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777240"/>
            <a:ext cx="8229600" cy="201168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5490"/>
                </a:solidFill>
              </a:defRPr>
            </a:pPr>
            <a:r>
              <a:t>テーマ6-10では、コスト可視化・VMI・IoT・人材育成・KPIダッシュボードを構築。</a:t>
            </a:r>
            <a:br/>
            <a:r>
              <a:t>データドリブン経営と自走できる改善体制を実現します。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5490"/>
                </a:solidFill>
              </a:defRPr>
            </a:pPr>
            <a:r>
              <a:t>プロジェクト全体タイムライン（36ヶ月）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8229600" cy="1645920"/>
          </a:xfrm>
          <a:prstGeom prst="roundRect">
            <a:avLst/>
          </a:prstGeom>
          <a:solidFill>
            <a:srgbClr val="FFEBEB"/>
          </a:solidFill>
          <a:ln w="254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800"/>
              </a:spcAft>
              <a:defRPr sz="1600" b="1">
                <a:solidFill>
                  <a:srgbClr val="1A5490"/>
                </a:solidFill>
              </a:defRPr>
            </a:pPr>
            <a:r>
              <a:t>Phase 1：現状分析・クイックウィン　（Month 0-6）</a:t>
            </a:r>
          </a:p>
          <a:p>
            <a:pPr>
              <a:spcBef>
                <a:spcPts val="400"/>
              </a:spcBef>
              <a:defRPr sz="1300"/>
            </a:pPr>
            <a:r>
              <a:t>在庫可視化、倉庫改善、早期成果創出</a:t>
            </a:r>
          </a:p>
          <a:p>
            <a:pPr>
              <a:spcBef>
                <a:spcPts val="800"/>
              </a:spcBef>
              <a:defRPr sz="1400" b="1">
                <a:solidFill>
                  <a:srgbClr val="C0392B"/>
                </a:solidFill>
              </a:defRPr>
            </a:pPr>
            <a:r>
              <a:t>累計効果：150-300百万円/年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880360"/>
            <a:ext cx="8229600" cy="1645920"/>
          </a:xfrm>
          <a:prstGeom prst="roundRect">
            <a:avLst/>
          </a:prstGeom>
          <a:solidFill>
            <a:srgbClr val="FFF8DC"/>
          </a:solidFill>
          <a:ln w="254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800"/>
              </a:spcAft>
              <a:defRPr sz="1600" b="1">
                <a:solidFill>
                  <a:srgbClr val="1A5490"/>
                </a:solidFill>
              </a:defRPr>
            </a:pPr>
            <a:r>
              <a:t>Phase 2：基盤構築・パイロット　（Month 6-18）</a:t>
            </a:r>
          </a:p>
          <a:p>
            <a:pPr>
              <a:spcBef>
                <a:spcPts val="400"/>
              </a:spcBef>
              <a:defRPr sz="1300"/>
            </a:pPr>
            <a:r>
              <a:t>需要予測、配送最適化、VMI/IoT、システム選定</a:t>
            </a:r>
          </a:p>
          <a:p>
            <a:pPr>
              <a:spcBef>
                <a:spcPts val="800"/>
              </a:spcBef>
              <a:defRPr sz="1400" b="1">
                <a:solidFill>
                  <a:srgbClr val="C0392B"/>
                </a:solidFill>
              </a:defRPr>
            </a:pPr>
            <a:r>
              <a:t>累計効果：500-700百万円/年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663440"/>
            <a:ext cx="8229600" cy="1645920"/>
          </a:xfrm>
          <a:prstGeom prst="roundRect">
            <a:avLst/>
          </a:prstGeom>
          <a:solidFill>
            <a:srgbClr val="EBFFEB"/>
          </a:solidFill>
          <a:ln w="254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800"/>
              </a:spcAft>
              <a:defRPr sz="1600" b="1">
                <a:solidFill>
                  <a:srgbClr val="1A5490"/>
                </a:solidFill>
              </a:defRPr>
            </a:pPr>
            <a:r>
              <a:t>Phase 3：全社展開・定着化　（Month 18-36）</a:t>
            </a:r>
          </a:p>
          <a:p>
            <a:pPr>
              <a:spcBef>
                <a:spcPts val="400"/>
              </a:spcBef>
              <a:defRPr sz="1300"/>
            </a:pPr>
            <a:r>
              <a:t>システム導入、全拠点展開、自走体制確立</a:t>
            </a:r>
          </a:p>
          <a:p>
            <a:pPr>
              <a:spcBef>
                <a:spcPts val="800"/>
              </a:spcBef>
              <a:defRPr sz="1400" b="1">
                <a:solidFill>
                  <a:srgbClr val="C0392B"/>
                </a:solidFill>
              </a:defRPr>
            </a:pPr>
            <a:r>
              <a:t>累計効果：870-1,240百万円/年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8229600" cy="228600"/>
          </a:xfrm>
          <a:prstGeom prst="roundRect">
            <a:avLst/>
          </a:prstGeom>
          <a:solidFill>
            <a:srgbClr val="FFFAEB"/>
          </a:solidFill>
          <a:ln w="127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5490"/>
                </a:solidFill>
              </a:defRPr>
            </a:pPr>
            <a:r>
              <a:t>36ヶ月で段階的に展開。Year 1でクイックウィンを実証、Year 2で投資回収開始、</a:t>
            </a:r>
            <a:br/>
            <a:r>
              <a:t>Year 3でフル効果870-1,240百万円/年を達成します。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A5490"/>
                </a:solidFill>
              </a:defRPr>
            </a:pPr>
            <a:r>
              <a:t>標準活動プロセス（8ステップ）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1737360" cy="2286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0"/>
          <a:lstStyle/>
          <a:p>
            <a:pPr algn="ctr">
              <a:defRPr sz="1300" b="1">
                <a:solidFill>
                  <a:srgbClr val="1A5490"/>
                </a:solidFill>
              </a:defRPr>
            </a:pPr>
            <a:r>
              <a:t>1. キックオフ・計画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286000" y="2103120"/>
            <a:ext cx="228600" cy="274320"/>
          </a:xfrm>
          <a:prstGeom prst="rightArrow">
            <a:avLst/>
          </a:prstGeom>
          <a:solidFill>
            <a:srgbClr val="1A5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14600" y="1097280"/>
            <a:ext cx="1737360" cy="2286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0"/>
          <a:lstStyle/>
          <a:p>
            <a:pPr algn="ctr">
              <a:defRPr sz="1300" b="1">
                <a:solidFill>
                  <a:srgbClr val="1A5490"/>
                </a:solidFill>
              </a:defRPr>
            </a:pPr>
            <a:r>
              <a:t>2. 現状調査・データ収集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251960" y="2103120"/>
            <a:ext cx="228600" cy="274320"/>
          </a:xfrm>
          <a:prstGeom prst="rightArrow">
            <a:avLst/>
          </a:prstGeom>
          <a:solidFill>
            <a:srgbClr val="1A5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80560" y="1097280"/>
            <a:ext cx="1737360" cy="2286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0"/>
          <a:lstStyle/>
          <a:p>
            <a:pPr algn="ctr">
              <a:defRPr sz="1300" b="1">
                <a:solidFill>
                  <a:srgbClr val="1A5490"/>
                </a:solidFill>
              </a:defRPr>
            </a:pPr>
            <a:r>
              <a:t>3. 分析・課題整理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217920" y="2103120"/>
            <a:ext cx="228600" cy="274320"/>
          </a:xfrm>
          <a:prstGeom prst="rightArrow">
            <a:avLst/>
          </a:prstGeom>
          <a:solidFill>
            <a:srgbClr val="1A5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6520" y="1097280"/>
            <a:ext cx="1737360" cy="2286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0"/>
          <a:lstStyle/>
          <a:p>
            <a:pPr algn="ctr">
              <a:defRPr sz="1300" b="1">
                <a:solidFill>
                  <a:srgbClr val="1A5490"/>
                </a:solidFill>
              </a:defRPr>
            </a:pPr>
            <a:r>
              <a:t>4. 改善案設計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57600"/>
            <a:ext cx="1737360" cy="2286000"/>
          </a:xfrm>
          <a:prstGeom prst="roundRect">
            <a:avLst/>
          </a:prstGeom>
          <a:solidFill>
            <a:srgbClr val="FFF0F0"/>
          </a:solidFill>
          <a:ln w="381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0"/>
          <a:lstStyle/>
          <a:p>
            <a:pPr algn="ctr">
              <a:defRPr sz="1300" b="1">
                <a:solidFill>
                  <a:srgbClr val="C0392B"/>
                </a:solidFill>
              </a:defRPr>
            </a:pPr>
            <a:r>
              <a:t>5. 【意思決定】承認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286000" y="4663440"/>
            <a:ext cx="228600" cy="274320"/>
          </a:xfrm>
          <a:prstGeom prst="rightArrow">
            <a:avLst/>
          </a:prstGeom>
          <a:solidFill>
            <a:srgbClr val="1A5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14600" y="3657600"/>
            <a:ext cx="1737360" cy="2286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0"/>
          <a:lstStyle/>
          <a:p>
            <a:pPr algn="ctr">
              <a:defRPr sz="1300" b="1">
                <a:solidFill>
                  <a:srgbClr val="1A5490"/>
                </a:solidFill>
              </a:defRPr>
            </a:pPr>
            <a:r>
              <a:t>6. パイロット実施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251960" y="4663440"/>
            <a:ext cx="228600" cy="274320"/>
          </a:xfrm>
          <a:prstGeom prst="rightArrow">
            <a:avLst/>
          </a:prstGeom>
          <a:solidFill>
            <a:srgbClr val="1A5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60" y="3657600"/>
            <a:ext cx="1737360" cy="2286000"/>
          </a:xfrm>
          <a:prstGeom prst="roundRect">
            <a:avLst/>
          </a:prstGeom>
          <a:solidFill>
            <a:srgbClr val="FFF0F0"/>
          </a:solidFill>
          <a:ln w="381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0"/>
          <a:lstStyle/>
          <a:p>
            <a:pPr algn="ctr">
              <a:defRPr sz="1300" b="1">
                <a:solidFill>
                  <a:srgbClr val="C0392B"/>
                </a:solidFill>
              </a:defRPr>
            </a:pPr>
            <a:r>
              <a:t>7. 【Go/No Go】判断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217920" y="4663440"/>
            <a:ext cx="228600" cy="274320"/>
          </a:xfrm>
          <a:prstGeom prst="rightArrow">
            <a:avLst/>
          </a:prstGeom>
          <a:solidFill>
            <a:srgbClr val="1A5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46520" y="3657600"/>
            <a:ext cx="1737360" cy="22860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0"/>
          <a:lstStyle/>
          <a:p>
            <a:pPr algn="ctr">
              <a:defRPr sz="1300" b="1">
                <a:solidFill>
                  <a:srgbClr val="1A5490"/>
                </a:solidFill>
              </a:defRPr>
            </a:pPr>
            <a:r>
              <a:t>8. 横展開・定着化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777240"/>
            <a:ext cx="8229600" cy="22860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5490"/>
                </a:solidFill>
              </a:defRPr>
            </a:pPr>
            <a:r>
              <a:t>各テーマで標準8ステップを実施。現状調査→分析→設計→意思決定→パイロット→検証→横展開の</a:t>
            </a:r>
            <a:br/>
            <a:r>
              <a:t>流れで、リスクを最小化しながら確実に成果を創出します。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490"/>
                </a:solidFill>
              </a:defRPr>
            </a:pPr>
            <a:r>
              <a:t>プロジェクト推進体制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7315200" cy="1188720"/>
          </a:xfrm>
          <a:prstGeom prst="roundRect">
            <a:avLst/>
          </a:prstGeom>
          <a:solidFill>
            <a:srgbClr val="FFE6E6"/>
          </a:solidFill>
          <a:ln w="254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A5490"/>
                </a:solidFill>
              </a:defRPr>
            </a:pPr>
            <a:r>
              <a:t>ステアリングコミッティ（月1回）</a:t>
            </a:r>
          </a:p>
          <a:p>
            <a:pPr>
              <a:spcBef>
                <a:spcPts val="400"/>
              </a:spcBef>
              <a:defRPr sz="1300"/>
            </a:pPr>
            <a:r>
              <a:t>役割：重要意思決定、進捗確認</a:t>
            </a:r>
          </a:p>
          <a:p>
            <a:pPr>
              <a:spcBef>
                <a:spcPts val="400"/>
              </a:spcBef>
              <a:defRPr sz="1300"/>
            </a:pPr>
            <a:r>
              <a:t>メンバー：社長、役員、PMO</a:t>
            </a:r>
          </a:p>
        </p:txBody>
      </p:sp>
      <p:sp>
        <p:nvSpPr>
          <p:cNvPr id="4" name="Down Arrow 3"/>
          <p:cNvSpPr/>
          <p:nvPr/>
        </p:nvSpPr>
        <p:spPr>
          <a:xfrm>
            <a:off x="4343400" y="2331720"/>
            <a:ext cx="457200" cy="182880"/>
          </a:xfrm>
          <a:prstGeom prst="downArrow">
            <a:avLst/>
          </a:prstGeom>
          <a:solidFill>
            <a:srgbClr val="1A5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468880"/>
            <a:ext cx="7315200" cy="1371600"/>
          </a:xfrm>
          <a:prstGeom prst="roundRect">
            <a:avLst/>
          </a:prstGeom>
          <a:solidFill>
            <a:srgbClr val="FFF5DC"/>
          </a:solidFill>
          <a:ln w="254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A5490"/>
                </a:solidFill>
              </a:defRPr>
            </a:pPr>
            <a:r>
              <a:t>プロジェクトマネジメントオフィス（週1回）</a:t>
            </a:r>
          </a:p>
          <a:p>
            <a:pPr>
              <a:spcBef>
                <a:spcPts val="400"/>
              </a:spcBef>
              <a:defRPr sz="1300"/>
            </a:pPr>
            <a:r>
              <a:t>役割：全体統括、進捗管理、課題管理</a:t>
            </a:r>
          </a:p>
          <a:p>
            <a:pPr>
              <a:spcBef>
                <a:spcPts val="400"/>
              </a:spcBef>
              <a:defRPr sz="1300"/>
            </a:pPr>
            <a:r>
              <a:t>メンバー：プロジェクトリーダー、各テーマリーダー</a:t>
            </a:r>
          </a:p>
        </p:txBody>
      </p:sp>
      <p:sp>
        <p:nvSpPr>
          <p:cNvPr id="6" name="Down Arrow 5"/>
          <p:cNvSpPr/>
          <p:nvPr/>
        </p:nvSpPr>
        <p:spPr>
          <a:xfrm>
            <a:off x="4343400" y="3886200"/>
            <a:ext cx="457200" cy="182880"/>
          </a:xfrm>
          <a:prstGeom prst="downArrow">
            <a:avLst/>
          </a:prstGeom>
          <a:solidFill>
            <a:srgbClr val="1A5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4023360"/>
            <a:ext cx="7315200" cy="1645920"/>
          </a:xfrm>
          <a:prstGeom prst="roundRect">
            <a:avLst/>
          </a:prstGeom>
          <a:solidFill>
            <a:srgbClr val="F0FFF0"/>
          </a:solidFill>
          <a:ln w="254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A5490"/>
                </a:solidFill>
              </a:defRPr>
            </a:pPr>
            <a:r>
              <a:t>テーマ別ワーキンググループ（週1-2回）</a:t>
            </a:r>
          </a:p>
          <a:p>
            <a:pPr>
              <a:spcBef>
                <a:spcPts val="400"/>
              </a:spcBef>
              <a:defRPr sz="1300"/>
            </a:pPr>
            <a:r>
              <a:t>役割：テーマ別の詳細検討・実行（10チーム）</a:t>
            </a:r>
          </a:p>
          <a:p>
            <a:pPr>
              <a:spcBef>
                <a:spcPts val="400"/>
              </a:spcBef>
              <a:defRPr sz="1300"/>
            </a:pPr>
            <a:r>
              <a:t>メンバー：現場責任者・実務担当者、コンサルタント</a:t>
            </a:r>
          </a:p>
        </p:txBody>
      </p:sp>
      <p:sp>
        <p:nvSpPr>
          <p:cNvPr id="8" name="Down Arrow 7"/>
          <p:cNvSpPr/>
          <p:nvPr/>
        </p:nvSpPr>
        <p:spPr>
          <a:xfrm>
            <a:off x="4343400" y="5715000"/>
            <a:ext cx="457200" cy="182880"/>
          </a:xfrm>
          <a:prstGeom prst="downArrow">
            <a:avLst/>
          </a:prstGeom>
          <a:solidFill>
            <a:srgbClr val="1A5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822960"/>
            <a:ext cx="7315200" cy="256032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5490"/>
                </a:solidFill>
              </a:defRPr>
            </a:pPr>
            <a:r>
              <a:t>3階層の推進体制で、意思決定の迅速化と現場の巻き込みを両立。</a:t>
            </a:r>
            <a:br/>
            <a:r>
              <a:t>ステアリングコミッティ・PMO・10のワーキンググループで、貴社メンバーと協働で進めます。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490"/>
                </a:solidFill>
              </a:defRPr>
            </a:pPr>
            <a:r>
              <a:t>累積効果の推移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8229600" cy="1737360"/>
          </a:xfrm>
          <a:prstGeom prst="roundRect">
            <a:avLst/>
          </a:prstGeom>
          <a:solidFill>
            <a:srgbClr val="FFF0F0"/>
          </a:solidFill>
          <a:ln w="254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spcAft>
                <a:spcPts val="600"/>
              </a:spcAft>
              <a:defRPr sz="1600" b="1">
                <a:solidFill>
                  <a:srgbClr val="1A5490"/>
                </a:solidFill>
              </a:defRPr>
            </a:pPr>
            <a:r>
              <a:t>Year 1：クイックウィン創出期</a:t>
            </a:r>
          </a:p>
          <a:p>
            <a:pPr>
              <a:spcBef>
                <a:spcPts val="200"/>
              </a:spcBef>
              <a:defRPr sz="1200"/>
            </a:pPr>
            <a:r>
              <a:t>• 在庫削減：200-500百万円</a:t>
            </a:r>
          </a:p>
          <a:p>
            <a:pPr>
              <a:spcBef>
                <a:spcPts val="200"/>
              </a:spcBef>
              <a:defRPr sz="1200"/>
            </a:pPr>
            <a:r>
              <a:t>• 倉庫改善：30-50百万円/年</a:t>
            </a:r>
          </a:p>
          <a:p>
            <a:pPr>
              <a:spcBef>
                <a:spcPts val="200"/>
              </a:spcBef>
              <a:defRPr sz="1200"/>
            </a:pPr>
            <a:r>
              <a:t>• 配送改善：50-100百万円/年</a:t>
            </a:r>
          </a:p>
          <a:p>
            <a:pPr>
              <a:spcBef>
                <a:spcPts val="800"/>
              </a:spcBef>
              <a:defRPr sz="1300" b="1">
                <a:solidFill>
                  <a:srgbClr val="C0392B"/>
                </a:solidFill>
              </a:defRPr>
            </a:pPr>
            <a:r>
              <a:t>累計効果：150-300百万円/年　CF：△50-100百万円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880359"/>
            <a:ext cx="8229600" cy="1737360"/>
          </a:xfrm>
          <a:prstGeom prst="roundRect">
            <a:avLst/>
          </a:prstGeom>
          <a:solidFill>
            <a:srgbClr val="FFF8DC"/>
          </a:solidFill>
          <a:ln w="254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spcAft>
                <a:spcPts val="600"/>
              </a:spcAft>
              <a:defRPr sz="1600" b="1">
                <a:solidFill>
                  <a:srgbClr val="1A5490"/>
                </a:solidFill>
              </a:defRPr>
            </a:pPr>
            <a:r>
              <a:t>Year 2：本格展開開始期</a:t>
            </a:r>
          </a:p>
          <a:p>
            <a:pPr>
              <a:spcBef>
                <a:spcPts val="200"/>
              </a:spcBef>
              <a:defRPr sz="1200"/>
            </a:pPr>
            <a:r>
              <a:t>• 需要予測・適正在庫：+400-700百万円</a:t>
            </a:r>
          </a:p>
          <a:p>
            <a:pPr>
              <a:spcBef>
                <a:spcPts val="200"/>
              </a:spcBef>
              <a:defRPr sz="1200"/>
            </a:pPr>
            <a:r>
              <a:t>• 配送最適化：+200-300百万円/年</a:t>
            </a:r>
          </a:p>
          <a:p>
            <a:pPr>
              <a:spcBef>
                <a:spcPts val="200"/>
              </a:spcBef>
              <a:defRPr sz="1200"/>
            </a:pPr>
            <a:r>
              <a:t>• VMI/倉庫展開：+150-250百万円/年</a:t>
            </a:r>
          </a:p>
          <a:p>
            <a:pPr>
              <a:spcBef>
                <a:spcPts val="800"/>
              </a:spcBef>
              <a:defRPr sz="1300" b="1">
                <a:solidFill>
                  <a:srgbClr val="C0392B"/>
                </a:solidFill>
              </a:defRPr>
            </a:pPr>
            <a:r>
              <a:t>累計効果：500-700百万円/年　CF：+50-200百万円（回収開始）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754878"/>
            <a:ext cx="8229600" cy="1737360"/>
          </a:xfrm>
          <a:prstGeom prst="roundRect">
            <a:avLst/>
          </a:prstGeom>
          <a:solidFill>
            <a:srgbClr val="EBFFEB"/>
          </a:solidFill>
          <a:ln w="254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spcAft>
                <a:spcPts val="600"/>
              </a:spcAft>
              <a:defRPr sz="1600" b="1">
                <a:solidFill>
                  <a:srgbClr val="1A5490"/>
                </a:solidFill>
              </a:defRPr>
            </a:pPr>
            <a:r>
              <a:t>Year 3：フル効果達成期</a:t>
            </a:r>
          </a:p>
          <a:p>
            <a:pPr>
              <a:spcBef>
                <a:spcPts val="200"/>
              </a:spcBef>
              <a:defRPr sz="1200"/>
            </a:pPr>
            <a:r>
              <a:t>• システム稼働：+200-300百万円/年</a:t>
            </a:r>
          </a:p>
          <a:p>
            <a:pPr>
              <a:spcBef>
                <a:spcPts val="200"/>
              </a:spcBef>
              <a:defRPr sz="1200"/>
            </a:pPr>
            <a:r>
              <a:t>• 全拠点展開：+100-150百万円/年</a:t>
            </a:r>
          </a:p>
          <a:p>
            <a:pPr>
              <a:spcBef>
                <a:spcPts val="200"/>
              </a:spcBef>
              <a:defRPr sz="1200"/>
            </a:pPr>
            <a:r>
              <a:t>• VMI/IoT拡大：+70-150百万円/年</a:t>
            </a:r>
          </a:p>
          <a:p>
            <a:pPr>
              <a:spcBef>
                <a:spcPts val="800"/>
              </a:spcBef>
              <a:defRPr sz="1300" b="1">
                <a:solidFill>
                  <a:srgbClr val="C0392B"/>
                </a:solidFill>
              </a:defRPr>
            </a:pPr>
            <a:r>
              <a:t>累計効果：870-1,240百万円/年　CF：+720-1,090百万円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8229600" cy="228600"/>
          </a:xfrm>
          <a:prstGeom prst="roundRect">
            <a:avLst/>
          </a:prstGeom>
          <a:solidFill>
            <a:srgbClr val="F0FFF0"/>
          </a:solidFill>
          <a:ln w="127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5490"/>
                </a:solidFill>
              </a:defRPr>
            </a:pPr>
            <a:r>
              <a:t>効果は段階的に積み上がります。Year 1で150-300百万円、Year 2で500-700百万円、</a:t>
            </a:r>
            <a:br/>
            <a:r>
              <a:t>Year 3でフル効果870-1,240百万円/年を達成。Year 2後半には投資回収が完了します。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5490"/>
                </a:solidFill>
              </a:defRPr>
            </a:pPr>
            <a:r>
              <a:t>成功の5つの鍵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1097280"/>
            <a:ext cx="7406640" cy="9144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600" b="1">
                <a:solidFill>
                  <a:srgbClr val="1A5490"/>
                </a:solidFill>
              </a:defRPr>
            </a:pPr>
            <a:r>
              <a:t>経営層の強いコミットメント</a:t>
            </a:r>
          </a:p>
          <a:p>
            <a:pPr>
              <a:spcBef>
                <a:spcPts val="200"/>
              </a:spcBef>
              <a:defRPr sz="1300"/>
            </a:pPr>
            <a:r>
              <a:t>トップダウン推進、明確な目標、リソース確保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37744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2148840"/>
            <a:ext cx="7406640" cy="9144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600" b="1">
                <a:solidFill>
                  <a:srgbClr val="1A5490"/>
                </a:solidFill>
              </a:defRPr>
            </a:pPr>
            <a:r>
              <a:t>現場を巻き込んだ推進</a:t>
            </a:r>
          </a:p>
          <a:p>
            <a:pPr>
              <a:spcBef>
                <a:spcPts val="200"/>
              </a:spcBef>
              <a:defRPr sz="1300"/>
            </a:pPr>
            <a:r>
              <a:t>現場の声を反映、早期成果で実感創出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4290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3200400"/>
            <a:ext cx="7406640" cy="9144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600" b="1">
                <a:solidFill>
                  <a:srgbClr val="1A5490"/>
                </a:solidFill>
              </a:defRPr>
            </a:pPr>
            <a:r>
              <a:t>データドリブンの徹底</a:t>
            </a:r>
          </a:p>
          <a:p>
            <a:pPr>
              <a:spcBef>
                <a:spcPts val="200"/>
              </a:spcBef>
              <a:defRPr sz="1300"/>
            </a:pPr>
            <a:r>
              <a:t>事実に基づく課題把握、定量効果測定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48056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4251960"/>
            <a:ext cx="7406640" cy="9144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600" b="1">
                <a:solidFill>
                  <a:srgbClr val="1A5490"/>
                </a:solidFill>
              </a:defRPr>
            </a:pPr>
            <a:r>
              <a:t>クイックウィンの創出</a:t>
            </a:r>
          </a:p>
          <a:p>
            <a:pPr>
              <a:spcBef>
                <a:spcPts val="200"/>
              </a:spcBef>
              <a:defRPr sz="1300"/>
            </a:pPr>
            <a:r>
              <a:t>早期成果実証、組織の信頼獲得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553212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5303520"/>
            <a:ext cx="7406640" cy="9144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spcAft>
                <a:spcPts val="400"/>
              </a:spcAft>
              <a:defRPr sz="1600" b="1">
                <a:solidFill>
                  <a:srgbClr val="1A5490"/>
                </a:solidFill>
              </a:defRPr>
            </a:pPr>
            <a:r>
              <a:t>人材育成とノウハウ移転</a:t>
            </a:r>
          </a:p>
          <a:p>
            <a:pPr>
              <a:spcBef>
                <a:spcPts val="200"/>
              </a:spcBef>
              <a:defRPr sz="1300"/>
            </a:pPr>
            <a:r>
              <a:t>貴社メンバー成長、内製化、自走体制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822960"/>
            <a:ext cx="8229600" cy="256032"/>
          </a:xfrm>
          <a:prstGeom prst="roundRect">
            <a:avLst/>
          </a:prstGeom>
          <a:solidFill>
            <a:srgbClr val="FFFAF0"/>
          </a:solidFill>
          <a:ln w="127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5490"/>
                </a:solidFill>
              </a:defRPr>
            </a:pPr>
            <a:r>
              <a:t>プロジェクト成功には5つの要素が不可欠です。特に経営層の強いコミットメントと</a:t>
            </a:r>
            <a:br/>
            <a:r>
              <a:t>クイックウィンでの早期成果創出が、組織全体の推進力を生み出します。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5490"/>
                </a:solidFill>
              </a:defRPr>
            </a:pPr>
            <a:r>
              <a:t>次のステップ：プロジェクト開始まで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8229600" cy="16916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A5490"/>
                </a:solidFill>
              </a:defRPr>
            </a:pPr>
            <a:r>
              <a:t>Step 1：詳細ヒアリング・現地視察　（2-3週間）</a:t>
            </a:r>
          </a:p>
          <a:p>
            <a:pPr>
              <a:spcBef>
                <a:spcPts val="300"/>
              </a:spcBef>
              <a:defRPr sz="1300"/>
            </a:pPr>
            <a:r>
              <a:t>• 経営層・物流部門ヒアリング</a:t>
            </a:r>
          </a:p>
          <a:p>
            <a:pPr>
              <a:spcBef>
                <a:spcPts val="300"/>
              </a:spcBef>
              <a:defRPr sz="1300"/>
            </a:pPr>
            <a:r>
              <a:t>• 拠点視察（2-3拠点）</a:t>
            </a:r>
          </a:p>
          <a:p>
            <a:pPr>
              <a:spcBef>
                <a:spcPts val="300"/>
              </a:spcBef>
              <a:defRPr sz="1300"/>
            </a:pPr>
            <a:r>
              <a:t>• データ確認・収集</a:t>
            </a:r>
          </a:p>
          <a:p>
            <a:pPr>
              <a:spcBef>
                <a:spcPts val="800"/>
              </a:spcBef>
              <a:defRPr sz="1300" b="1">
                <a:solidFill>
                  <a:srgbClr val="C0392B"/>
                </a:solidFill>
              </a:defRPr>
            </a:pPr>
            <a:r>
              <a:t>成果物：詳細現状分析、優先テーマ案、詳細計画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926080"/>
            <a:ext cx="8229600" cy="16916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A5490"/>
                </a:solidFill>
              </a:defRPr>
            </a:pPr>
            <a:r>
              <a:t>Step 2：提案プレゼンテーション　（1週間）</a:t>
            </a:r>
          </a:p>
          <a:p>
            <a:pPr>
              <a:spcBef>
                <a:spcPts val="300"/>
              </a:spcBef>
              <a:defRPr sz="1300"/>
            </a:pPr>
            <a:r>
              <a:t>• 詳細計画のご説明</a:t>
            </a:r>
          </a:p>
          <a:p>
            <a:pPr>
              <a:spcBef>
                <a:spcPts val="300"/>
              </a:spcBef>
              <a:defRPr sz="1300"/>
            </a:pPr>
            <a:r>
              <a:t>• 期待効果の精緻化</a:t>
            </a:r>
          </a:p>
          <a:p>
            <a:pPr>
              <a:spcBef>
                <a:spcPts val="300"/>
              </a:spcBef>
              <a:defRPr sz="1300"/>
            </a:pPr>
            <a:r>
              <a:t>• 体制・役割分担の確認</a:t>
            </a:r>
          </a:p>
          <a:p>
            <a:pPr>
              <a:spcBef>
                <a:spcPts val="800"/>
              </a:spcBef>
              <a:defRPr sz="1300" b="1">
                <a:solidFill>
                  <a:srgbClr val="C0392B"/>
                </a:solidFill>
              </a:defRPr>
            </a:pPr>
            <a:r>
              <a:t>成果物：最終提案書、契約条件合意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754880"/>
            <a:ext cx="8229600" cy="16916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600"/>
              </a:spcAft>
              <a:defRPr sz="1600" b="1">
                <a:solidFill>
                  <a:srgbClr val="1A5490"/>
                </a:solidFill>
              </a:defRPr>
            </a:pPr>
            <a:r>
              <a:t>Step 3：キックオフ　（1週間）</a:t>
            </a:r>
          </a:p>
          <a:p>
            <a:pPr>
              <a:spcBef>
                <a:spcPts val="300"/>
              </a:spcBef>
              <a:defRPr sz="1300"/>
            </a:pPr>
            <a:r>
              <a:t>• キックオフミーティング</a:t>
            </a:r>
          </a:p>
          <a:p>
            <a:pPr>
              <a:spcBef>
                <a:spcPts val="300"/>
              </a:spcBef>
              <a:defRPr sz="1300"/>
            </a:pPr>
            <a:r>
              <a:t>• プロジェクト体制発足</a:t>
            </a:r>
          </a:p>
          <a:p>
            <a:pPr>
              <a:spcBef>
                <a:spcPts val="300"/>
              </a:spcBef>
              <a:defRPr sz="1300"/>
            </a:pPr>
            <a:r>
              <a:t>• 活動開始</a:t>
            </a:r>
          </a:p>
          <a:p>
            <a:pPr>
              <a:spcBef>
                <a:spcPts val="800"/>
              </a:spcBef>
              <a:defRPr sz="1300" b="1">
                <a:solidFill>
                  <a:srgbClr val="C0392B"/>
                </a:solidFill>
              </a:defRPr>
            </a:pPr>
            <a:r>
              <a:t>成果物：プロジェクト始動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777240"/>
            <a:ext cx="8229600" cy="256032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5490"/>
                </a:solidFill>
              </a:defRPr>
            </a:pPr>
            <a:r>
              <a:t>プロジェクト開始まで3ステップ・約4-5週間。詳細ヒアリング・現地視察で現状を正確に把握し、</a:t>
            </a:r>
            <a:br/>
            <a:r>
              <a:t>貴社に最適な実行計画を策定してからプロジェクトを開始します。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2286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5490"/>
                </a:solidFill>
              </a:defRPr>
            </a:pPr>
            <a:r>
              <a:t>ご清聴ありがとうございました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4495E"/>
                </a:solidFill>
              </a:defRPr>
            </a:pPr>
            <a:r>
              <a:t>ご質問・ご相談はお気軽にお申し付けください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